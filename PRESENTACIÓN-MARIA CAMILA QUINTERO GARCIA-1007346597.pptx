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6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3D8EB266-81BB-49A2-8C39-AA26B2A82454}" type="datetimeFigureOut">
              <a:rPr lang="es-CO" smtClean="0"/>
              <a:t>31/10/2025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vert="horz" lIns="45720" tIns="45720" rIns="45720" bIns="45720" rtlCol="0" anchor="ctr">
            <a:normAutofit/>
          </a:bodyPr>
          <a:lstStyle>
            <a:lvl1pPr>
              <a:defRPr lang="en-US"/>
            </a:lvl1pPr>
          </a:lstStyle>
          <a:p>
            <a:fld id="{A14EC181-022C-4DDD-9717-3CA9549D6A43}" type="slidenum">
              <a:rPr lang="es-CO" smtClean="0"/>
              <a:t>‹Nº›</a:t>
            </a:fld>
            <a:endParaRPr lang="es-CO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17180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EB266-81BB-49A2-8C39-AA26B2A82454}" type="datetimeFigureOut">
              <a:rPr lang="es-CO" smtClean="0"/>
              <a:t>31/10/2025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EC181-022C-4DDD-9717-3CA9549D6A4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40372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EB266-81BB-49A2-8C39-AA26B2A82454}" type="datetimeFigureOut">
              <a:rPr lang="es-CO" smtClean="0"/>
              <a:t>31/10/2025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EC181-022C-4DDD-9717-3CA9549D6A43}" type="slidenum">
              <a:rPr lang="es-CO" smtClean="0"/>
              <a:t>‹Nº›</a:t>
            </a:fld>
            <a:endParaRPr lang="es-CO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897981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EB266-81BB-49A2-8C39-AA26B2A82454}" type="datetimeFigureOut">
              <a:rPr lang="es-CO" smtClean="0"/>
              <a:t>31/10/2025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EC181-022C-4DDD-9717-3CA9549D6A4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79306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7879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>
                    <a:lumMod val="6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126480" y="1717879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lang="en-US" sz="2000" b="0" kern="1200" spc="10" baseline="0" dirty="0">
                <a:solidFill>
                  <a:schemeClr val="tx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EB266-81BB-49A2-8C39-AA26B2A82454}" type="datetimeFigureOut">
              <a:rPr lang="es-CO" smtClean="0"/>
              <a:t>31/10/2025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EC181-022C-4DDD-9717-3CA9549D6A4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79076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EB266-81BB-49A2-8C39-AA26B2A82454}" type="datetimeFigureOut">
              <a:rPr lang="es-CO" smtClean="0"/>
              <a:t>31/10/2025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EC181-022C-4DDD-9717-3CA9549D6A4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08951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EB266-81BB-49A2-8C39-AA26B2A82454}" type="datetimeFigureOut">
              <a:rPr lang="es-CO" smtClean="0"/>
              <a:t>31/10/2025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EC181-022C-4DDD-9717-3CA9549D6A4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88475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EB266-81BB-49A2-8C39-AA26B2A82454}" type="datetimeFigureOut">
              <a:rPr lang="es-CO" smtClean="0"/>
              <a:t>31/10/2025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EC181-022C-4DDD-9717-3CA9549D6A4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65233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EB266-81BB-49A2-8C39-AA26B2A82454}" type="datetimeFigureOut">
              <a:rPr lang="es-CO" smtClean="0"/>
              <a:t>31/10/2025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EC181-022C-4DDD-9717-3CA9549D6A4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36088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EB266-81BB-49A2-8C39-AA26B2A82454}" type="datetimeFigureOut">
              <a:rPr lang="es-CO" smtClean="0"/>
              <a:t>31/10/2025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EC181-022C-4DDD-9717-3CA9549D6A4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18377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EB266-81BB-49A2-8C39-AA26B2A82454}" type="datetimeFigureOut">
              <a:rPr lang="es-CO" smtClean="0"/>
              <a:t>31/10/2025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EC181-022C-4DDD-9717-3CA9549D6A4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74886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3D8EB266-81BB-49A2-8C39-AA26B2A82454}" type="datetimeFigureOut">
              <a:rPr lang="es-CO" smtClean="0"/>
              <a:t>31/10/2025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rgbClr val="969696"/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rgbClr val="777777"/>
                </a:solidFill>
              </a:defRPr>
            </a:lvl1pPr>
          </a:lstStyle>
          <a:p>
            <a:fld id="{A14EC181-022C-4DDD-9717-3CA9549D6A4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361618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2.sgc.gov.co/Noticias/Paginas/Por-que-el-reactor-nuclear-colombiano-no-genera-energia.aspx?utm_source=chatgpt.com" TargetMode="External"/><Relationship Id="rId3" Type="http://schemas.openxmlformats.org/officeDocument/2006/relationships/hyperlink" Target="https://www.bancolombia.com/empresas/capital-inteligente/actualidad-economica-sectorial/por-que-colombia-no-tiene-energia-nuclear?utm_source=chatgpt.com" TargetMode="External"/><Relationship Id="rId7" Type="http://schemas.openxmlformats.org/officeDocument/2006/relationships/hyperlink" Target="https://rednuclearcolombiana.org/el-renacimiento-nuclear-mundial-y-los-ultimos-avances-de-colombia-en-materia-nuclear?utm_source=chatgpt.com" TargetMode="External"/><Relationship Id="rId2" Type="http://schemas.openxmlformats.org/officeDocument/2006/relationships/hyperlink" Target="https://ascun.org.co/noticias-ies/la-energia-nuclear-esta-creciendo-en-el-mundo-y-colombia-aun-no-esta-preparada?utm_source=chatgpt.com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portafolio.co/energia/es-viable-la-implementacion-de-energia-nuclear-en-colombia-esto-dicen-los-expertos-633351?utm_source=chatgpt.com" TargetMode="External"/><Relationship Id="rId5" Type="http://schemas.openxmlformats.org/officeDocument/2006/relationships/hyperlink" Target="https://www.eltiempo.com/vida/medio-ambiente/cuanto-costaria-producir-energia-nuclear-en-colombia-el-pais-contempla-usarla-a-partir-de-2038-3468815?utm_source=chatgpt.com" TargetMode="External"/><Relationship Id="rId4" Type="http://schemas.openxmlformats.org/officeDocument/2006/relationships/hyperlink" Target="https://www.elcolombiano.com/negocios/ley-energia-nuclear-en-colombia-que-es-y-como-beneficia-a-las-personas-BL27794445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0D889E-DBE9-B09C-D0EB-782626EB77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157641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s-ES" sz="4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Energía nuclear en Colombia: contexto, retos y posibilidades</a:t>
            </a:r>
            <a:b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s-E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Hechos, realidades y futuro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b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E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Maria Camila Quintero García  </a:t>
            </a:r>
            <a:b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E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Universidad nacional de Colombia</a:t>
            </a:r>
            <a:b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s-C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2120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A7E36866-CB94-EBDE-B251-8834EBBCF80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54266" y="327661"/>
            <a:ext cx="9950246" cy="21852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CO" altLang="es-CO" sz="4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¿Por qué hablar de energía nuclear en Colombia hoy?</a:t>
            </a:r>
            <a:endParaRPr kumimoji="0" lang="es-CO" altLang="es-CO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Colombia desde 1965 cuenta con un reactor nuclear… pero ¿qué significa eso para generación eléctrica?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948E17E-9821-28B5-DEDA-F0CCED84EC64}"/>
              </a:ext>
            </a:extLst>
          </p:cNvPr>
          <p:cNvSpPr txBox="1"/>
          <p:nvPr/>
        </p:nvSpPr>
        <p:spPr>
          <a:xfrm>
            <a:off x="174599" y="2967335"/>
            <a:ext cx="61058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Colombia cuenta con el reactor de investigación IAN‑R1, ubicado en Bogotá, que funciona desde 1965 para investigación, </a:t>
            </a:r>
            <a:r>
              <a:rPr lang="es-E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para generación de electricidad</a:t>
            </a:r>
            <a:r>
              <a:rPr lang="es-ES" dirty="0"/>
              <a:t>.</a:t>
            </a:r>
            <a:endParaRPr lang="es-CO" dirty="0"/>
          </a:p>
        </p:txBody>
      </p:sp>
      <p:pic>
        <p:nvPicPr>
          <p:cNvPr id="10" name="Imagen 9" descr="Imagen que contiene interior, persona, hombre, metal&#10;&#10;El contenido generado por IA puede ser incorrecto.">
            <a:extLst>
              <a:ext uri="{FF2B5EF4-FFF2-40B4-BE49-F238E27FC236}">
                <a16:creationId xmlns:a16="http://schemas.microsoft.com/office/drawing/2014/main" id="{1D4B3ED6-9593-0824-A4C5-EBF6C5C6D1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0431" y="3045253"/>
            <a:ext cx="4424081" cy="2952712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E01F29EC-7404-6215-00BE-755AA291CAF0}"/>
              </a:ext>
            </a:extLst>
          </p:cNvPr>
          <p:cNvSpPr txBox="1"/>
          <p:nvPr/>
        </p:nvSpPr>
        <p:spPr>
          <a:xfrm>
            <a:off x="174599" y="4017702"/>
            <a:ext cx="610583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Proyecto de Ley 466 de 2024 para crear una Agencia Nacional de Seguridad Nuclear.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Plan Energético Nacional que contempla incluir energía nuclear entre 2035-2040 aprox. Capacidad estimada 1.200-1.800 MW.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Aplicaciones actuales: radioisótopos, salud, industria, investigación.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682A2F6-8023-CB4E-B452-925CCCD46398}"/>
              </a:ext>
            </a:extLst>
          </p:cNvPr>
          <p:cNvSpPr txBox="1"/>
          <p:nvPr/>
        </p:nvSpPr>
        <p:spPr>
          <a:xfrm>
            <a:off x="6280431" y="6075883"/>
            <a:ext cx="630479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100" dirty="0"/>
              <a:t>Fuente: Servicio Geológico Colombiano (2023). </a:t>
            </a:r>
            <a:r>
              <a:rPr lang="es-CO" sz="1100" i="1" dirty="0"/>
              <a:t>Reactor Nuclear IAN-R1</a:t>
            </a:r>
            <a:r>
              <a:rPr lang="es-CO" sz="11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207814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F19EC7-8676-9872-37D6-CCB746884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078" y="568240"/>
            <a:ext cx="9692640" cy="1325562"/>
          </a:xfrm>
        </p:spPr>
        <p:txBody>
          <a:bodyPr/>
          <a:lstStyle/>
          <a:p>
            <a:pPr algn="ctr"/>
            <a:r>
              <a:rPr lang="es-E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¿Por qué considerar la energía nuclear en Colombia?</a:t>
            </a:r>
            <a:endParaRPr lang="es-CO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7965C7F-68D1-ADC7-24CB-532F55F1795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41128" y="2487658"/>
            <a:ext cx="9692641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Generación constante: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 diferencia de las fuentes renovables como la solar o la eólica, la energía nuclear no depende del clima. Puede funcionar las 24 horas del día, garantizando estabilidad en la red eléctrica.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Descarbonización: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Colombia busca reducir su huella de carbono. La nuclear no emite CO₂ durante la generación, lo que la hace clave para cumplir los compromisos climáticos de 2050.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Complemento a la matriz energética: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el país depende en más del 70 % de las hidroeléctricas; en periodos de sequía, la producción se reduce drásticamente. La nuclear puede suplir esa brecha.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Desarrollo tecnológico: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su implementación impulsa la formación científica, la investigación en física, ingeniería y materiales, y la creación de empleo especializado de alto nivel.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Soberanía energética: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reduce la dependencia de fuentes externas y permite diversificar el sistema nacional de generación.</a:t>
            </a:r>
          </a:p>
        </p:txBody>
      </p:sp>
    </p:spTree>
    <p:extLst>
      <p:ext uri="{BB962C8B-B14F-4D97-AF65-F5344CB8AC3E}">
        <p14:creationId xmlns:p14="http://schemas.microsoft.com/office/powerpoint/2010/main" val="3898936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217C84-C449-D0C1-D015-588A34781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32" y="631231"/>
            <a:ext cx="9692640" cy="1325562"/>
          </a:xfrm>
        </p:spPr>
        <p:txBody>
          <a:bodyPr>
            <a:normAutofit fontScale="90000"/>
          </a:bodyPr>
          <a:lstStyle/>
          <a:p>
            <a:pPr algn="ctr"/>
            <a:r>
              <a:rPr lang="es-E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Desafíos para la energía nuclear en Colombia</a:t>
            </a:r>
            <a:br>
              <a:rPr lang="es-ES" dirty="0"/>
            </a:b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23F2D72-204A-E5D7-A3CB-60D07635AC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324" y="1681316"/>
            <a:ext cx="8595360" cy="435133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s-ES" dirty="0"/>
          </a:p>
          <a:p>
            <a:r>
              <a:rPr lang="es-E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Altos costos iniciales: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construcción de una central nuclear puede costar entre 5 000 y 10 000 millones de dólares, con tiempos de implementación de hasta 10 años.</a:t>
            </a:r>
          </a:p>
          <a:p>
            <a:r>
              <a:rPr lang="es-E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Capacitación del talento humano: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actualmente Colombia tiene pocos profesionales especializados en ingeniería nuclear, radio protección o gestión de residuos.</a:t>
            </a:r>
          </a:p>
          <a:p>
            <a:r>
              <a:rPr lang="es-E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Gestión de residuos radiactivos: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 requieren protocolos de almacenamiento a largo plazo y supervisión estatal permanente.</a:t>
            </a:r>
          </a:p>
          <a:p>
            <a:r>
              <a:rPr lang="es-E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Percepción pública del riesgo: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gran parte de la población asocia la energía nuclear con desastres como Chernóbil o Fukushima, aunque los nuevos sistemas son mucho más seguros.</a:t>
            </a:r>
          </a:p>
          <a:p>
            <a:r>
              <a:rPr lang="es-E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Marco legal e institucional débil: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aún se tramita la creación de la Agencia Nacional de Seguridad Nuclear, clave para regular y garantizar la seguridad.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5703277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7CA95D-FB44-3770-ADC5-31C632C63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709" y="1362664"/>
            <a:ext cx="9692640" cy="1325562"/>
          </a:xfrm>
        </p:spPr>
        <p:txBody>
          <a:bodyPr>
            <a:normAutofit fontScale="90000"/>
          </a:bodyPr>
          <a:lstStyle/>
          <a:p>
            <a:pPr algn="ctr"/>
            <a:r>
              <a:rPr lang="es-E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Escenarios futuros y oportunidades</a:t>
            </a:r>
            <a:br>
              <a:rPr lang="es-E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E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Mirando al futuro nuclear colombiano</a:t>
            </a:r>
            <a:b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E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s-C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4FCB1A1-46F8-53A7-5D26-0C4191DB5C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989" y="1671485"/>
            <a:ext cx="7813301" cy="4705298"/>
          </a:xfrm>
        </p:spPr>
        <p:txBody>
          <a:bodyPr>
            <a:normAutofit/>
          </a:bodyPr>
          <a:lstStyle/>
          <a:p>
            <a:r>
              <a:rPr lang="es-E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Reactores modulares pequeños (SMR):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tecnología emergente más segura y flexible. Requiere menos espacio y puede instalarse en zonas aisladas o industriales.</a:t>
            </a:r>
          </a:p>
          <a:p>
            <a:r>
              <a:rPr lang="es-E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Horizonte 2035–2040: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 Plan Energético Nacional contempla iniciar estudios y posibles proyectos pilotos en esa década.</a:t>
            </a:r>
          </a:p>
          <a:p>
            <a:r>
              <a:rPr lang="es-E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Colaboración internacional: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Colombia tiene acuerdos con el </a:t>
            </a:r>
            <a:r>
              <a:rPr lang="es-E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Organismo Internacional de Energía Atómica (OIEA)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busca alianzas con países como Canadá y Corea del Sur.</a:t>
            </a:r>
          </a:p>
          <a:p>
            <a:r>
              <a:rPr lang="es-E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Aplicaciones complementarias: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energía nuclear puede apoyar la </a:t>
            </a:r>
            <a:r>
              <a:rPr lang="es-E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desalinización de agua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la </a:t>
            </a:r>
            <a:r>
              <a:rPr lang="es-E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producción de hidrógeno verde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el </a:t>
            </a:r>
            <a:r>
              <a:rPr lang="es-E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 de plagas agrícolas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mediante técnicas isotópicas.</a:t>
            </a:r>
          </a:p>
          <a:p>
            <a:r>
              <a:rPr lang="es-E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Impulso a la ciencia nacional: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mayor inversión en universidades y centros de investigación que estudien energía limpia, física aplicada y seguridad ambiental.</a:t>
            </a:r>
          </a:p>
          <a:p>
            <a:endParaRPr lang="es-C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n 6" descr="Diagrama&#10;&#10;El contenido generado por IA puede ser incorrecto.">
            <a:extLst>
              <a:ext uri="{FF2B5EF4-FFF2-40B4-BE49-F238E27FC236}">
                <a16:creationId xmlns:a16="http://schemas.microsoft.com/office/drawing/2014/main" id="{57D0AC47-A990-46BB-511B-F979FBD714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3163" y="3500131"/>
            <a:ext cx="3297654" cy="2422626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2DDC67EF-AE6E-DB27-F9FB-DCBAD63C7FB3}"/>
              </a:ext>
            </a:extLst>
          </p:cNvPr>
          <p:cNvSpPr txBox="1"/>
          <p:nvPr/>
        </p:nvSpPr>
        <p:spPr>
          <a:xfrm>
            <a:off x="7803163" y="6228988"/>
            <a:ext cx="610583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1100"/>
              <a:t>Fuente: Wikipedia (s. f.). </a:t>
            </a:r>
            <a:r>
              <a:rPr lang="es-ES" sz="1100" i="1"/>
              <a:t>Reactor nuclear de agua a presión</a:t>
            </a:r>
            <a:r>
              <a:rPr lang="es-ES" sz="1100"/>
              <a:t>.</a:t>
            </a:r>
            <a:endParaRPr lang="es-ES" sz="1100" dirty="0"/>
          </a:p>
        </p:txBody>
      </p:sp>
    </p:spTree>
    <p:extLst>
      <p:ext uri="{BB962C8B-B14F-4D97-AF65-F5344CB8AC3E}">
        <p14:creationId xmlns:p14="http://schemas.microsoft.com/office/powerpoint/2010/main" val="20153908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63A979-4C9C-383B-D256-83407D506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862" y="894173"/>
            <a:ext cx="9692640" cy="1325562"/>
          </a:xfrm>
        </p:spPr>
        <p:txBody>
          <a:bodyPr>
            <a:normAutofit fontScale="90000"/>
          </a:bodyPr>
          <a:lstStyle/>
          <a:p>
            <a:pPr algn="ctr"/>
            <a:r>
              <a:rPr lang="es-E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Conclusión</a:t>
            </a:r>
            <a:br>
              <a:rPr lang="es-E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camino posible, pero responsable</a:t>
            </a:r>
            <a:br>
              <a:rPr lang="es-ES" dirty="0"/>
            </a:br>
            <a:endParaRPr lang="es-CO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8950FA0-CABE-5581-34D6-A2AADAD37F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34297" y="3031914"/>
            <a:ext cx="1075649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Colombia posee </a:t>
            </a:r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capacidad científica y técnica básica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pero aún no las condiciones políticas, económicas ni sociales para implementar una planta nuclear.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 </a:t>
            </a:r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energía nuclear no es inmediata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sino una inversión a largo plazo que debe integrarse dentro de una estrategia de transición energética justa.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 requiere una </a:t>
            </a:r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educación pública informada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para superar el miedo y entender su verdadero potencial.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 se maneja con transparencia, puede contribuir significativamente al desarrollo sostenible del país.</a:t>
            </a:r>
          </a:p>
        </p:txBody>
      </p:sp>
    </p:spTree>
    <p:extLst>
      <p:ext uri="{BB962C8B-B14F-4D97-AF65-F5344CB8AC3E}">
        <p14:creationId xmlns:p14="http://schemas.microsoft.com/office/powerpoint/2010/main" val="34419165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80388B5-C4D1-29CC-BDAA-0FCC35D8B7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5638" y="363793"/>
            <a:ext cx="10087897" cy="5948798"/>
          </a:xfrm>
        </p:spPr>
        <p:txBody>
          <a:bodyPr>
            <a:normAutofit fontScale="62500" lnSpcReduction="20000"/>
          </a:bodyPr>
          <a:lstStyle/>
          <a:p>
            <a:pPr marL="0" indent="0" algn="ctr">
              <a:buNone/>
            </a:pPr>
            <a:r>
              <a:rPr lang="es-E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Referencias</a:t>
            </a:r>
          </a:p>
          <a:p>
            <a:pPr marL="0" indent="0" algn="ctr">
              <a:buNone/>
            </a:pPr>
            <a:endParaRPr lang="es-ES" sz="2400" dirty="0"/>
          </a:p>
          <a:p>
            <a:r>
              <a:rPr lang="es-ES" sz="2400" dirty="0"/>
              <a:t>ASCUN – Asociación Colombiana de Universidades. (2024, marzo 22). </a:t>
            </a:r>
            <a:r>
              <a:rPr lang="es-ES" sz="2400" i="1" dirty="0"/>
              <a:t>La energía nuclear está creciendo en el mundo y Colombia aún no está preparada.</a:t>
            </a:r>
            <a:r>
              <a:rPr lang="es-ES" sz="2400" dirty="0"/>
              <a:t> </a:t>
            </a:r>
            <a:r>
              <a:rPr lang="es-ES" sz="2400" dirty="0">
                <a:hlinkClick r:id="rId2"/>
              </a:rPr>
              <a:t>https://ascun.org.co/noticias-ies/la-energia-nuclear-esta-creciendo-en-el-mundo-y-colombia-aun-no-esta-preparada</a:t>
            </a:r>
            <a:endParaRPr lang="es-ES" sz="2400" dirty="0"/>
          </a:p>
          <a:p>
            <a:r>
              <a:rPr lang="es-ES" sz="2400" dirty="0"/>
              <a:t>Bancolombia. (2024, abril 10). </a:t>
            </a:r>
            <a:r>
              <a:rPr lang="es-ES" sz="2400" i="1" dirty="0"/>
              <a:t>¿Por qué Colombia no tiene energía nuclear?</a:t>
            </a:r>
            <a:r>
              <a:rPr lang="es-ES" sz="2400" dirty="0"/>
              <a:t> Capital Inteligente. </a:t>
            </a:r>
            <a:r>
              <a:rPr lang="es-ES" sz="2400" dirty="0">
                <a:hlinkClick r:id="rId3"/>
              </a:rPr>
              <a:t>https://www.bancolombia.com/empresas/capital-inteligente/actualidad-economica-sectorial/por-que-colombia-no-tiene-energia-nuclear</a:t>
            </a:r>
            <a:endParaRPr lang="es-ES" sz="2400" dirty="0"/>
          </a:p>
          <a:p>
            <a:r>
              <a:rPr lang="es-ES" sz="2400" dirty="0"/>
              <a:t>El Colombiano. (2024, mayo 28). </a:t>
            </a:r>
            <a:r>
              <a:rPr lang="es-ES" sz="2400" i="1" dirty="0"/>
              <a:t>Ley de energía nuclear en Colombia: ¿qué es y cómo beneficia a las personas?</a:t>
            </a:r>
            <a:r>
              <a:rPr lang="es-ES" sz="2400" dirty="0"/>
              <a:t> </a:t>
            </a:r>
            <a:r>
              <a:rPr lang="es-ES" sz="2400" dirty="0">
                <a:hlinkClick r:id="rId4"/>
              </a:rPr>
              <a:t>https://www.elcolombiano.com/negocios/ley-energia-nuclear-en-colombia-que-es-y-como-beneficia-a-las-personas-BL27794445</a:t>
            </a:r>
            <a:endParaRPr lang="es-ES" sz="2400" dirty="0"/>
          </a:p>
          <a:p>
            <a:r>
              <a:rPr lang="es-ES" sz="2400" dirty="0"/>
              <a:t>El Tiempo. (2024, septiembre 15). </a:t>
            </a:r>
            <a:r>
              <a:rPr lang="es-ES" sz="2400" i="1" dirty="0"/>
              <a:t>¿Cuánto costaría producir energía nuclear en Colombia? El país contempla usarla a partir de 2038.</a:t>
            </a:r>
            <a:r>
              <a:rPr lang="es-ES" sz="2400" dirty="0"/>
              <a:t> </a:t>
            </a:r>
            <a:r>
              <a:rPr lang="es-ES" sz="2400" dirty="0">
                <a:hlinkClick r:id="rId5"/>
              </a:rPr>
              <a:t>https://www.eltiempo.com/vida/medio-ambiente/cuanto-costaria-producir-energia-nuclear-en-colombia-el-pais-contempla-usarla-a-partir-de-2038-3468815</a:t>
            </a:r>
            <a:endParaRPr lang="es-ES" sz="2400" dirty="0"/>
          </a:p>
          <a:p>
            <a:r>
              <a:rPr lang="es-ES" sz="2400" dirty="0"/>
              <a:t>Portafolio. (2024, julio 19). </a:t>
            </a:r>
            <a:r>
              <a:rPr lang="es-ES" sz="2400" i="1" dirty="0"/>
              <a:t>¿Es viable la implementación de energía nuclear en Colombia? Esto dicen los expertos.</a:t>
            </a:r>
            <a:r>
              <a:rPr lang="es-ES" sz="2400" dirty="0"/>
              <a:t> </a:t>
            </a:r>
            <a:r>
              <a:rPr lang="es-ES" sz="2400" dirty="0">
                <a:hlinkClick r:id="rId6"/>
              </a:rPr>
              <a:t>https://www.portafolio.co/energia/es-viable-la-implementacion-de-energia-nuclear-en-colombia-esto-dicen-los-expertos-633351</a:t>
            </a:r>
            <a:endParaRPr lang="es-ES" sz="2400" dirty="0"/>
          </a:p>
          <a:p>
            <a:r>
              <a:rPr lang="es-ES" sz="2400" dirty="0"/>
              <a:t>Red Nuclear Colombiana. (2024, junio 4). </a:t>
            </a:r>
            <a:r>
              <a:rPr lang="es-ES" sz="2400" i="1" dirty="0"/>
              <a:t>El renacimiento nuclear mundial y los últimos avances de Colombia en materia nuclear.</a:t>
            </a:r>
            <a:r>
              <a:rPr lang="es-ES" sz="2400" dirty="0"/>
              <a:t> </a:t>
            </a:r>
            <a:r>
              <a:rPr lang="es-ES" sz="2400" dirty="0">
                <a:hlinkClick r:id="rId7"/>
              </a:rPr>
              <a:t>https://rednuclearcolombiana.org/el-renacimiento-nuclear-mundial-y-los-ultimos-avances-de-colombia-en-materia-nuclear</a:t>
            </a:r>
            <a:endParaRPr lang="es-ES" sz="2400" dirty="0"/>
          </a:p>
          <a:p>
            <a:r>
              <a:rPr lang="es-ES" sz="2400" dirty="0"/>
              <a:t>Servicio Geológico Colombiano (SGC). (2023, noviembre 9). </a:t>
            </a:r>
            <a:r>
              <a:rPr lang="es-ES" sz="2400" i="1" dirty="0"/>
              <a:t>¿Por qué el reactor nuclear colombiano no genera energía?</a:t>
            </a:r>
            <a:r>
              <a:rPr lang="es-ES" sz="2400" dirty="0"/>
              <a:t> </a:t>
            </a:r>
            <a:r>
              <a:rPr lang="es-ES" sz="2400" dirty="0">
                <a:hlinkClick r:id="rId8"/>
              </a:rPr>
              <a:t>https://www2.sgc.gov.co/Noticias/Paginas/Por-que-el-reactor-nuclear-colombiano-no-genera-energia.aspx</a:t>
            </a:r>
            <a:endParaRPr lang="es-ES" sz="2400" dirty="0"/>
          </a:p>
          <a:p>
            <a:pPr marL="0" indent="0" algn="ctr">
              <a:buNone/>
            </a:pPr>
            <a:endParaRPr lang="es-E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3442715"/>
      </p:ext>
    </p:extLst>
  </p:cSld>
  <p:clrMapOvr>
    <a:masterClrMapping/>
  </p:clrMapOvr>
</p:sld>
</file>

<file path=ppt/theme/theme1.xml><?xml version="1.0" encoding="utf-8"?>
<a:theme xmlns:a="http://schemas.openxmlformats.org/drawingml/2006/main" name="Vista">
  <a:themeElements>
    <a:clrScheme name="Vista">
      <a:dk1>
        <a:sysClr val="windowText" lastClr="000000"/>
      </a:dk1>
      <a:lt1>
        <a:sysClr val="window" lastClr="FFFFFF"/>
      </a:lt1>
      <a:dk2>
        <a:srgbClr val="564B3C"/>
      </a:dk2>
      <a:lt2>
        <a:srgbClr val="ECEDD1"/>
      </a:lt2>
      <a:accent1>
        <a:srgbClr val="93A299"/>
      </a:accent1>
      <a:accent2>
        <a:srgbClr val="CB4B30"/>
      </a:accent2>
      <a:accent3>
        <a:srgbClr val="B5AE53"/>
      </a:accent3>
      <a:accent4>
        <a:srgbClr val="6F6A7A"/>
      </a:accent4>
      <a:accent5>
        <a:srgbClr val="E8B54D"/>
      </a:accent5>
      <a:accent6>
        <a:srgbClr val="8A7952"/>
      </a:accent6>
      <a:hlink>
        <a:srgbClr val="9F9F0B"/>
      </a:hlink>
      <a:folHlink>
        <a:srgbClr val="B2B2B2"/>
      </a:folHlink>
    </a:clrScheme>
    <a:fontScheme name="Vista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sta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3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3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866257B-E5CE-4C43-9210-F2DE76BE10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TM03457515[[fn=Vista]]</Template>
  <TotalTime>116</TotalTime>
  <Words>943</Words>
  <Application>Microsoft Office PowerPoint</Application>
  <PresentationFormat>Panorámica</PresentationFormat>
  <Paragraphs>42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Arial</vt:lpstr>
      <vt:lpstr>Century Schoolbook</vt:lpstr>
      <vt:lpstr>Times New Roman</vt:lpstr>
      <vt:lpstr>Wingdings 2</vt:lpstr>
      <vt:lpstr>Vista</vt:lpstr>
      <vt:lpstr>Energía nuclear en Colombia: contexto, retos y posibilidades “Hechos, realidades y futuro”  Maria Camila Quintero García   Universidad nacional de Colombia </vt:lpstr>
      <vt:lpstr>Presentación de PowerPoint</vt:lpstr>
      <vt:lpstr>¿Por qué considerar la energía nuclear en Colombia?</vt:lpstr>
      <vt:lpstr>Desafíos para la energía nuclear en Colombia </vt:lpstr>
      <vt:lpstr>Escenarios futuros y oportunidades Mirando al futuro nuclear colombiano  </vt:lpstr>
      <vt:lpstr>Conclusión  Un camino posible, pero responsable 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 Quintero</dc:creator>
  <cp:lastModifiedBy>Maria Quintero</cp:lastModifiedBy>
  <cp:revision>4</cp:revision>
  <dcterms:created xsi:type="dcterms:W3CDTF">2025-10-31T01:26:07Z</dcterms:created>
  <dcterms:modified xsi:type="dcterms:W3CDTF">2025-11-01T02:12:58Z</dcterms:modified>
</cp:coreProperties>
</file>