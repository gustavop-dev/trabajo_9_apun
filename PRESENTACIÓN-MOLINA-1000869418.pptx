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64" r:id="rId2"/>
    <p:sldId id="266" r:id="rId3"/>
    <p:sldId id="271" r:id="rId4"/>
    <p:sldId id="268" r:id="rId5"/>
    <p:sldId id="258" r:id="rId6"/>
    <p:sldId id="261" r:id="rId7"/>
    <p:sldId id="263" r:id="rId8"/>
    <p:sldId id="267" r:id="rId9"/>
    <p:sldId id="269" r:id="rId10"/>
    <p:sldId id="273" r:id="rId11"/>
    <p:sldId id="274" r:id="rId12"/>
    <p:sldId id="265" r:id="rId13"/>
    <p:sldId id="260" r:id="rId14"/>
    <p:sldId id="270" r:id="rId15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CC"/>
    <a:srgbClr val="E03A00"/>
    <a:srgbClr val="172B7E"/>
    <a:srgbClr val="2BA287"/>
    <a:srgbClr val="19A78C"/>
    <a:srgbClr val="19937C"/>
    <a:srgbClr val="43AB97"/>
    <a:srgbClr val="CC008C"/>
    <a:srgbClr val="00A480"/>
    <a:srgbClr val="00A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02B859D-5048-0C1E-B9F2-9D594768B8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6B28CA-E42C-12FC-EDFC-44D55CC4B0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E973F-8A1E-44B5-82FB-C697E4341B66}" type="datetimeFigureOut">
              <a:rPr lang="es-CO" smtClean="0"/>
              <a:t>31/10/25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EB1322-D829-B499-5577-D550E6C956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A3E36E-0BD7-46D4-8D9F-EE624649D6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D74DA-8239-4820-9155-5FA656E9D2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52606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F4248-662D-4161-B25A-69D06F9F0739}" type="datetimeFigureOut">
              <a:rPr lang="es-CO" smtClean="0"/>
              <a:t>31/10/25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3A4BD-A61F-4B89-AEF9-0D544A2D90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9300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73A60-E4AB-42E8-867F-FED247CDCD68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9266-3578-4ED8-8279-4025011679E5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CBEA-DF9D-4FC4-8A2C-E7A72CB6FF7B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87AA-FC2C-4AE8-96D0-97E43E07CBD0}" type="datetime1">
              <a:rPr lang="es-ES" smtClean="0"/>
              <a:t>31/10/25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55E7-DADE-4641-B07A-272C6C4B68CA}" type="datetime1">
              <a:rPr lang="es-ES" smtClean="0"/>
              <a:t>31/10/25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661A-B004-4342-A2B1-F459A529C538}" type="datetime1">
              <a:rPr lang="es-ES" smtClean="0"/>
              <a:t>31/10/25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200-3608-49E6-A40C-CE937F4F38FC}" type="datetime1">
              <a:rPr lang="es-ES" smtClean="0"/>
              <a:t>31/10/25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AF84-54B1-46DD-B34D-822A39D145C8}" type="datetime1">
              <a:rPr lang="es-ES" smtClean="0"/>
              <a:t>31/10/25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B5C5F-2D9C-4494-9E9D-FFE3CF4D87A8}" type="datetime1">
              <a:rPr lang="es-ES" smtClean="0"/>
              <a:t>31/10/25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0FDA-6B36-4E87-8614-69D9954AADBC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23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A72DC-A4E9-42D3-94E2-7E8E264549E9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11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83775-4E2F-4F07-8918-6CC95AF3932A}" type="datetime1">
              <a:rPr lang="es-ES" smtClean="0"/>
              <a:t>31/10/25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hyperlink" Target="https://upload.wikimedia.org/wikipedia/commons/7/74/JKepler.jp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pload.wikimedia.org/wikipedia/commons/thumb/3/3b/Portrait_of_Sir_Isaac_Newton%2C_1689.jpg/996px-Portrait_of_Sir_Isaac_Newton%2C_1689.jpg" TargetMode="External"/><Relationship Id="rId5" Type="http://schemas.openxmlformats.org/officeDocument/2006/relationships/hyperlink" Target="https://upload.wikimedia.org/wikipedia/commons/d/d4/Justus_Sustermans_-_Portait_of_Galileo_Galilei%2C_1636.jpg" TargetMode="Externa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is.naukas.com/files/2016/03/Dibujo20160315-Andrew-Wiles-fermat-last-theorem-blackboard-lowAP_9801060667-nature-news.jpg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drimasd.org/blogs/matematicas/files/2019/12/ANIE-56-11166-g014.jp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latinumciber.com/wp-content/uploads/2021/08/criptogrfia-2.webp" TargetMode="Externa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licdn.com/dms/image/v2/C5612AQE2tkpwloU2NQ/article-inline_image-shrink_1000_1488/article-inline_image-shrink_1000_1488/0/1526725052442?e=1762387200&amp;v=beta&amp;t=0e3kQ4iIy35EwlY1YqQpxF-KMzKyNqGcbLauxBMaPEE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drimasd.org/blogs/matematicas/files/2019/12/nudo_molecular0.png" TargetMode="External"/><Relationship Id="rId5" Type="http://schemas.openxmlformats.org/officeDocument/2006/relationships/hyperlink" Target="https://www.madrimasd.org/blogs/matematicas/files/2018/10/scaletowidth.png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drimasd.org/blogs/matematicas/files/2019/12/nudo_molecular0.png" TargetMode="External"/><Relationship Id="rId3" Type="http://schemas.openxmlformats.org/officeDocument/2006/relationships/hyperlink" Target="https://upload.wikimedia.org/wikipedia/commons/e/e5/Bridges_of_Konigsberg.png" TargetMode="External"/><Relationship Id="rId7" Type="http://schemas.openxmlformats.org/officeDocument/2006/relationships/hyperlink" Target="https://www.madrimasd.org/blogs/matematicas/files/2018/10/scaletowidth.png" TargetMode="External"/><Relationship Id="rId12" Type="http://schemas.openxmlformats.org/officeDocument/2006/relationships/hyperlink" Target="https://upload.wikimedia.org/wikipedia/commons/7/74/JKepler.jpg" TargetMode="External"/><Relationship Id="rId2" Type="http://schemas.openxmlformats.org/officeDocument/2006/relationships/hyperlink" Target="https://www.madrimasd.org/blogs/matematicas/files/2019/12/ANIE-56-11166-g014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a.licdn.com/dms/image/v2/C5612AQE2tkpwloU2NQ/article-inline_image-shrink_1000_1488/article-inline_image-shrink_1000_1488/0/1526725052442?e=1762387200&amp;v=beta&amp;t=0e3kQ4iIy35EwlY1YqQpxF-KMzKyNqGcbLauxBMaPEE" TargetMode="External"/><Relationship Id="rId11" Type="http://schemas.openxmlformats.org/officeDocument/2006/relationships/hyperlink" Target="https://upload.wikimedia.org/wikipedia/commons/d/d4/Justus_Sustermans_-_Portrait_of_Galileo_Galilei%2C_1636.jpg" TargetMode="External"/><Relationship Id="rId5" Type="http://schemas.openxmlformats.org/officeDocument/2006/relationships/hyperlink" Target="https://upload.wikimedia.org/wikipedia/commons/thumb/3/3b/Portrait_of_Sir_Isaac_Newton%2C_1689.jpg/996px-Portrait_of_Sir_Isaac_Newton%2C_1689.jpg" TargetMode="External"/><Relationship Id="rId10" Type="http://schemas.openxmlformats.org/officeDocument/2006/relationships/hyperlink" Target="https://www.platinumciber.com/wp-content/uploads/2021/08/criptogrfia-2.webp" TargetMode="External"/><Relationship Id="rId4" Type="http://schemas.openxmlformats.org/officeDocument/2006/relationships/hyperlink" Target="https://www.lancaster.ac.uk/stor-i-student-sites/harini-jayaraman/wp-content/uploads/sites/35/2022/05/Screenshot-201-1-1024x576.png" TargetMode="External"/><Relationship Id="rId9" Type="http://schemas.openxmlformats.org/officeDocument/2006/relationships/hyperlink" Target="https://francis.naukas.com/files/2016/03/Dibujo20160315-Andrew-Wiles-fermat-last-theorem-blackboard-lowAP_9801060667-nature-news.jpg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BF97E771-50CD-FE7A-435C-97E90AED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562062" y="402674"/>
            <a:ext cx="8145710" cy="2718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172B7E"/>
                </a:solidFill>
                <a:latin typeface="Ancizar Serif"/>
                <a:cs typeface="Ancizar Serif"/>
              </a:rPr>
              <a:t>La importancia de la investigación en matemáticas puras y abstractas. 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3" y="3377493"/>
            <a:ext cx="5810117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796651" y="2936138"/>
            <a:ext cx="354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cizar Sans"/>
                <a:cs typeface="Ancizar Sans"/>
              </a:rPr>
              <a:t> 	Thomas Molina Molina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538478" y="3933001"/>
            <a:ext cx="6201268" cy="970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172B7E"/>
                </a:solidFill>
                <a:latin typeface="Ancizar Serif"/>
                <a:cs typeface="Ancizar Serif"/>
              </a:rPr>
              <a:t>1 de noviembre de 2025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253D823-012D-A846-A944-52A86703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4E999-2534-2D28-FD2E-A28C65F2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rgbClr val="172B7E"/>
                </a:solidFill>
                <a:latin typeface="Ancizar Serif Extrabold" panose="020A0902070300000003" pitchFamily="18" charset="0"/>
                <a:cs typeface="Ancizar Sans Extrabold"/>
              </a:rPr>
              <a:t>Matemáticas Puras </a:t>
            </a:r>
            <a:endParaRPr lang="es-ES_tradn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4DF65B-BE59-4BC7-F779-27C8661124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2177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Las matemáticas puras son la rama de las matemáticas que estudia estructuras, relaciones y conceptos abstractos mediante el razonamiento lógico, a partir de axiomas y demostraciones rigurosas. (Burton, 2011)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s-ES" sz="2400" dirty="0">
              <a:solidFill>
                <a:schemeClr val="tx1">
                  <a:lumMod val="65000"/>
                  <a:lumOff val="35000"/>
                </a:schemeClr>
              </a:solidFill>
              <a:latin typeface="Ancizar Sans Light" panose="020B0502040300000003" pitchFamily="34" charset="0"/>
              <a:cs typeface="Ancizar Serif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EF77E61C-16E1-E87C-C0BD-424A6222BC00}"/>
              </a:ext>
            </a:extLst>
          </p:cNvPr>
          <p:cNvSpPr txBox="1">
            <a:spLocks/>
          </p:cNvSpPr>
          <p:nvPr/>
        </p:nvSpPr>
        <p:spPr>
          <a:xfrm>
            <a:off x="457200" y="3560733"/>
            <a:ext cx="8229600" cy="12908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Las matemáticas puras buscan comprender los principios fundamentales que sustentan el pensamiento matemático, construyendo teorías formales y universales. </a:t>
            </a:r>
          </a:p>
        </p:txBody>
      </p:sp>
    </p:spTree>
    <p:extLst>
      <p:ext uri="{BB962C8B-B14F-4D97-AF65-F5344CB8AC3E}">
        <p14:creationId xmlns:p14="http://schemas.microsoft.com/office/powerpoint/2010/main" val="58080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Extrabold" panose="020A0902070300000003" pitchFamily="18" charset="0"/>
                <a:cs typeface="Ancizar Sans Extrabold"/>
              </a:rPr>
              <a:t>Matemáticas en el siglo XVI</a:t>
            </a: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477375" y="641723"/>
            <a:ext cx="7877165" cy="2422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1400" spc="300" dirty="0">
              <a:solidFill>
                <a:srgbClr val="172B7E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59080" y="6294120"/>
            <a:ext cx="31165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  <a:p>
            <a:endParaRPr lang="es-CO" sz="900" i="1" dirty="0">
              <a:solidFill>
                <a:srgbClr val="F2E6CC"/>
              </a:solidFill>
              <a:latin typeface="Ancizar Sans" panose="020B0602040300000003" pitchFamily="34" charset="0"/>
            </a:endParaRPr>
          </a:p>
        </p:txBody>
      </p:sp>
      <p:pic>
        <p:nvPicPr>
          <p:cNvPr id="8202" name="Picture 10" descr="Isaac Newton. Museo Virtual de la Ciencia del CSIC">
            <a:extLst>
              <a:ext uri="{FF2B5EF4-FFF2-40B4-BE49-F238E27FC236}">
                <a16:creationId xmlns:a16="http://schemas.microsoft.com/office/drawing/2014/main" id="{8F02DAA7-0DF5-74BC-54BD-7E0D68430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868" y="890767"/>
            <a:ext cx="2206177" cy="425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Galileo Galilei - Wikipedia, la enciclopedia libre">
            <a:extLst>
              <a:ext uri="{FF2B5EF4-FFF2-40B4-BE49-F238E27FC236}">
                <a16:creationId xmlns:a16="http://schemas.microsoft.com/office/drawing/2014/main" id="{C9638D65-6F98-CCBF-A158-08826B6D7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75" y="890767"/>
            <a:ext cx="2206177" cy="425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>
            <a:extLst>
              <a:ext uri="{FF2B5EF4-FFF2-40B4-BE49-F238E27FC236}">
                <a16:creationId xmlns:a16="http://schemas.microsoft.com/office/drawing/2014/main" id="{0979892E-65B7-0E72-C649-3863D0ED2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361" y="884014"/>
            <a:ext cx="2262448" cy="425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D15BB9B-65B9-6707-F786-D58DD8DA18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59080" y="5301717"/>
            <a:ext cx="8675600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3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Sustermans, J. (1636). </a:t>
            </a:r>
            <a:r>
              <a:rPr kumimoji="0" lang="es-CO" altLang="es-CO" sz="800" b="0" i="1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Portrait of Galileo Galilei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[Pintura].Wikimedia Commons.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Recuperado el 31 de octubre: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https://upload.wikimedia.org/wikipedia/commons/d/d4/Justus_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Sustermans_-_Portait_of_Galileo_Galilei%2C_1636.jpg</a:t>
            </a:r>
            <a:b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s-CO" altLang="es-CO" sz="800" b="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/>
            <a:b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Kneller, G. (1689). </a:t>
            </a:r>
            <a:r>
              <a:rPr kumimoji="0" lang="es-CO" altLang="es-CO" sz="800" b="0" i="1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Portrait of Sir Isaac Newton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[Pintura].                                                                            Wikimedia Commons.  </a:t>
            </a:r>
            <a:r>
              <a:rPr lang="es-CO" altLang="es-CO" sz="800">
                <a:latin typeface="Calibri" panose="020F0502020204030204" pitchFamily="34" charset="0"/>
                <a:cs typeface="Calibri" panose="020F0502020204030204" pitchFamily="34" charset="0"/>
              </a:rPr>
              <a:t>Recuperado el 31 de octubre:</a:t>
            </a:r>
            <a:endParaRPr kumimoji="0" lang="es-CO" altLang="es-CO" sz="800" b="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https://upload.wikimedia.org/wikipedia/commons/thumb/3/3b/P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ortrait_of_Sir_Isaac_Newton%2C_1689.jpg/996px-Portrait_of_Sir_Isaac_Newton%2C_1689.jpg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</a:t>
            </a:r>
            <a:b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s-CO" altLang="es-CO" sz="800" b="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/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Unidentified artist. (Siglo XVII). </a:t>
            </a:r>
            <a:r>
              <a:rPr kumimoji="0" lang="es-CO" altLang="es-CO" sz="800" b="0" i="1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Portrait of Johannes Kepler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[Pintura]. Wikimedia Commons. </a:t>
            </a:r>
            <a:r>
              <a:rPr lang="es-CO" altLang="es-CO" sz="800">
                <a:latin typeface="Calibri" panose="020F0502020204030204" pitchFamily="34" charset="0"/>
                <a:cs typeface="Calibri" panose="020F0502020204030204" pitchFamily="34" charset="0"/>
              </a:rPr>
              <a:t>Recuperado el 31 de octubre: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https://upload.wikimedia.org/wikipedia/commons/7/74/JKepler.jpg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96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Extrabold" panose="020A0902070300000003" pitchFamily="18" charset="0"/>
                <a:cs typeface="Ancizar Sans Extrabold"/>
              </a:rPr>
              <a:t>Teoría de números 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595647" y="791419"/>
            <a:ext cx="2961070" cy="2432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ans Thin"/>
                <a:cs typeface="Ancizar Sans Thin"/>
              </a:rPr>
              <a:t>Andrew Wiles, ganador del Premio Abel.</a:t>
            </a:r>
          </a:p>
        </p:txBody>
      </p:sp>
      <p:sp>
        <p:nvSpPr>
          <p:cNvPr id="19" name="1 Rectángulo"/>
          <p:cNvSpPr/>
          <p:nvPr/>
        </p:nvSpPr>
        <p:spPr>
          <a:xfrm>
            <a:off x="595647" y="1080201"/>
            <a:ext cx="5218886" cy="46005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21 Rectángulo"/>
          <p:cNvSpPr/>
          <p:nvPr/>
        </p:nvSpPr>
        <p:spPr>
          <a:xfrm>
            <a:off x="2453640" y="3239265"/>
            <a:ext cx="1363811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endParaRPr lang="es-ES" sz="1600" b="1" spc="300" dirty="0">
              <a:solidFill>
                <a:schemeClr val="tx1">
                  <a:lumMod val="50000"/>
                  <a:lumOff val="50000"/>
                </a:schemeClr>
              </a:solidFill>
              <a:latin typeface="Ancizar Sans" pitchFamily="34" charset="0"/>
              <a:cs typeface="Ancizar Sans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6072885" y="1385485"/>
            <a:ext cx="26698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 teoría de números es el estudio de las propiedades de los números enteros (Burton, 2011)</a:t>
            </a:r>
          </a:p>
          <a:p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Ancizar Sans Light" panose="020B0502040300000003" pitchFamily="34" charset="0"/>
              <a:cs typeface="Ancizar Serif"/>
            </a:endParaRPr>
          </a:p>
          <a:p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Ancizar Sans Light" panose="020B0502040300000003" pitchFamily="34" charset="0"/>
              <a:cs typeface="Ancizar Serif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Su origen se remonta a Mesopotamia con el origen de la aritmética. </a:t>
            </a:r>
          </a:p>
          <a:p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Ancizar Sans Light" panose="020B0502040300000003" pitchFamily="34" charset="0"/>
              <a:cs typeface="Ancizar Serif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259080" y="629412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</p:txBody>
      </p:sp>
      <p:pic>
        <p:nvPicPr>
          <p:cNvPr id="6150" name="Picture 6" descr="Abel prize won by Oxford professor for Fermat's Last Theorem proof |  Mathematics | The Guardian">
            <a:extLst>
              <a:ext uri="{FF2B5EF4-FFF2-40B4-BE49-F238E27FC236}">
                <a16:creationId xmlns:a16="http://schemas.microsoft.com/office/drawing/2014/main" id="{6952BC59-5455-B5C1-0BDF-44697AE5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47" y="1080200"/>
            <a:ext cx="5218886" cy="459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0492836-B2C0-F759-3B17-0577CF77C9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595647" y="5799117"/>
            <a:ext cx="828092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Nature News. (2016, marzo 15). </a:t>
            </a:r>
            <a:r>
              <a:rPr kumimoji="0" lang="es-CO" altLang="es-CO" sz="800" b="0" i="1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Andrew Wiles frente al pizarrón con el Último Teorema de Fermat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 [Fotografía]. Francis (Naukas).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https://francis.naukas.com/files/2016/03/Dibujo20160315-Andrew-Wiles-fermat-last-theorem-blackboard</a:t>
            </a:r>
            <a:r>
              <a:rPr lang="es-CO" altLang="es-CO" sz="800"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lowAP_9801060667-nature-news.jpg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</a:rPr>
              <a:t> 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905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Extrabold" panose="020A0902070300000003" pitchFamily="18" charset="0"/>
                <a:cs typeface="Ancizar Sans Extrabold"/>
              </a:rPr>
              <a:t>Puente de Königsberg </a:t>
            </a: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477375" y="641723"/>
            <a:ext cx="7877165" cy="2422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1400" spc="300" dirty="0">
              <a:solidFill>
                <a:srgbClr val="172B7E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59080" y="6294120"/>
            <a:ext cx="31165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  <a:p>
            <a:endParaRPr lang="es-CO" sz="900" i="1" dirty="0">
              <a:solidFill>
                <a:srgbClr val="F2E6CC"/>
              </a:solidFill>
              <a:latin typeface="Ancizar Sans" panose="020B0602040300000003" pitchFamily="34" charset="0"/>
            </a:endParaRPr>
          </a:p>
        </p:txBody>
      </p:sp>
      <p:pic>
        <p:nvPicPr>
          <p:cNvPr id="5122" name="Picture 2" descr="Seven Bridges of Königsberg - Wikipedia">
            <a:extLst>
              <a:ext uri="{FF2B5EF4-FFF2-40B4-BE49-F238E27FC236}">
                <a16:creationId xmlns:a16="http://schemas.microsoft.com/office/drawing/2014/main" id="{043C1F56-0F85-BF8F-94C6-6B8114B5B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33" y="890767"/>
            <a:ext cx="3813067" cy="475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Konigsberg bridge problem and the evolution of Mathematics – Harini  Jayaraman">
            <a:extLst>
              <a:ext uri="{FF2B5EF4-FFF2-40B4-BE49-F238E27FC236}">
                <a16:creationId xmlns:a16="http://schemas.microsoft.com/office/drawing/2014/main" id="{E0D3254A-B19F-BCFF-21F6-4D11C375C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120" y="3102912"/>
            <a:ext cx="3806114" cy="253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1BE7321-2A9A-DC36-BA80-7000D9509866}"/>
              </a:ext>
            </a:extLst>
          </p:cNvPr>
          <p:cNvSpPr txBox="1"/>
          <p:nvPr/>
        </p:nvSpPr>
        <p:spPr>
          <a:xfrm>
            <a:off x="5009466" y="1264638"/>
            <a:ext cx="3297423" cy="1290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¿Es posible recorrer la ciudad cruzando cada puente una sola vez?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DB703D-C806-C4F9-EF67-6138B2F34A5A}"/>
              </a:ext>
            </a:extLst>
          </p:cNvPr>
          <p:cNvSpPr/>
          <p:nvPr/>
        </p:nvSpPr>
        <p:spPr>
          <a:xfrm>
            <a:off x="4755122" y="2804485"/>
            <a:ext cx="2961070" cy="2432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800" dirty="0">
                <a:solidFill>
                  <a:schemeClr val="tx1"/>
                </a:solidFill>
              </a:rPr>
              <a:t>Mapa histórico de Königsberg, Johann Friedrich Endersch (1736), dominio público.</a:t>
            </a:r>
            <a:endParaRPr lang="es-ES" sz="800" dirty="0">
              <a:solidFill>
                <a:schemeClr val="tx1"/>
              </a:solidFill>
              <a:latin typeface="Ancizar Sans Thin"/>
              <a:cs typeface="Ancizar Sans Thin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CE7859C-8623-F09F-15CC-BA0416EDD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758933" y="5664984"/>
            <a:ext cx="780230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Jayaraman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, H. (2022, mayo). Screenshot-201: Modelo bayesiano [Imagen]. Lancaster </a:t>
            </a: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University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, STOR-i </a:t>
            </a: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Student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Sites. https://www.lancaster.ac.uk/stor-i-student-sites/harini-jayaraman/wp-content/uploads/sites/35/2022/05/Screenshot-201-1-1024x576.png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Euler, L. (1736). Bridges of Königsberg [Ilustración]. Wikimedia </a:t>
            </a: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Commons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 https://upload.wikimedia.org/wikipedia/commons/e/e5/Bridges_of_Konigsberg.png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639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os contenedores-08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" y="1178600"/>
            <a:ext cx="7949514" cy="456544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Black" panose="020A0A02070300000003" pitchFamily="18" charset="0"/>
                <a:cs typeface="Ancizar Sans Extrabold"/>
              </a:rPr>
              <a:t>Teoría de Nudos </a:t>
            </a: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602947" y="1240773"/>
            <a:ext cx="798488" cy="561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4000" dirty="0">
              <a:solidFill>
                <a:srgbClr val="19937C"/>
              </a:solidFill>
              <a:latin typeface="Ancizar Sans Extrabold"/>
              <a:cs typeface="Ancizar Sans Extrabold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42716" y="1802768"/>
            <a:ext cx="3297423" cy="3322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 teoría de nudos es la rama de la topología que se encarga de estudiar el objeto matemático que abstrae la noción cotidiana de nudo. (Adams, 2004)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59080" y="629412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</p:txBody>
      </p:sp>
      <p:sp>
        <p:nvSpPr>
          <p:cNvPr id="18" name="1 Rectángulo">
            <a:extLst>
              <a:ext uri="{FF2B5EF4-FFF2-40B4-BE49-F238E27FC236}">
                <a16:creationId xmlns:a16="http://schemas.microsoft.com/office/drawing/2014/main" id="{2214E7E6-CDE6-4D45-9D9B-9E26810060BA}"/>
              </a:ext>
            </a:extLst>
          </p:cNvPr>
          <p:cNvSpPr/>
          <p:nvPr/>
        </p:nvSpPr>
        <p:spPr>
          <a:xfrm>
            <a:off x="6585233" y="1485656"/>
            <a:ext cx="1596518" cy="3901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21 Rectángulo">
            <a:extLst>
              <a:ext uri="{FF2B5EF4-FFF2-40B4-BE49-F238E27FC236}">
                <a16:creationId xmlns:a16="http://schemas.microsoft.com/office/drawing/2014/main" id="{C2FD8689-5C0D-4426-8546-A3D41FB63A41}"/>
              </a:ext>
            </a:extLst>
          </p:cNvPr>
          <p:cNvSpPr/>
          <p:nvPr/>
        </p:nvSpPr>
        <p:spPr>
          <a:xfrm>
            <a:off x="5606155" y="3429000"/>
            <a:ext cx="1862155" cy="30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CO" sz="1600" b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Ancizar Sans" pitchFamily="34" charset="0"/>
                <a:cs typeface="Ancizar Sans"/>
              </a:rPr>
              <a:t>IMAGEN</a:t>
            </a:r>
            <a:endParaRPr lang="es-ES" sz="1600" b="1" spc="300" dirty="0">
              <a:solidFill>
                <a:schemeClr val="tx1">
                  <a:lumMod val="50000"/>
                  <a:lumOff val="50000"/>
                </a:schemeClr>
              </a:solidFill>
              <a:latin typeface="Ancizar Sans" pitchFamily="34" charset="0"/>
              <a:cs typeface="Ancizar Sans"/>
            </a:endParaRPr>
          </a:p>
        </p:txBody>
      </p:sp>
      <p:pic>
        <p:nvPicPr>
          <p:cNvPr id="1026" name="Picture 2" descr="Nudos moleculares o la Química anudada - Matemáticas y sus fronteras">
            <a:extLst>
              <a:ext uri="{FF2B5EF4-FFF2-40B4-BE49-F238E27FC236}">
                <a16:creationId xmlns:a16="http://schemas.microsoft.com/office/drawing/2014/main" id="{806805BB-DF3F-D246-8EB1-1185C6F90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125" y="1364566"/>
            <a:ext cx="3705415" cy="419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0E33469-DC57-EFCA-73CA-9D9213818E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603250" y="5756861"/>
            <a:ext cx="4644220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Angewandte Chemie International Edition. (2019). </a:t>
            </a:r>
            <a:r>
              <a:rPr kumimoji="0" lang="es-CO" altLang="es-CO" sz="800" b="0" i="1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Figura del artículo ANIE-56-11166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 [Gráfico]. Madrimasd.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 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https://www.madrimasd.org/blogs/matematicas/files/2019/12/ANIE-56-11166-g014.jpg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effectLst/>
                <a:latin typeface="+mj-lt"/>
              </a:rPr>
              <a:t> 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122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os contenedores-08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" y="1178600"/>
            <a:ext cx="7949514" cy="456544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Black" panose="020A0A02070300000003" pitchFamily="18" charset="0"/>
                <a:cs typeface="Ancizar Sans Extrabold"/>
              </a:rPr>
              <a:t>Criptografía </a:t>
            </a: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602947" y="1240773"/>
            <a:ext cx="798488" cy="561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4000" dirty="0">
              <a:solidFill>
                <a:srgbClr val="19937C"/>
              </a:solidFill>
              <a:latin typeface="Ancizar Sans Extrabold"/>
              <a:cs typeface="Ancizar Sans Extrabold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16868" y="1600060"/>
            <a:ext cx="3297423" cy="278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 criptografía es la ciencia que estudia las técnicas para proteger la información, cifrándola con algoritmos para que solo las partes autorizadas puedan acceder a ella. (Stinson &amp; Paterson,2018) 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259080" y="629412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</p:txBody>
      </p:sp>
      <p:sp>
        <p:nvSpPr>
          <p:cNvPr id="18" name="1 Rectángulo">
            <a:extLst>
              <a:ext uri="{FF2B5EF4-FFF2-40B4-BE49-F238E27FC236}">
                <a16:creationId xmlns:a16="http://schemas.microsoft.com/office/drawing/2014/main" id="{2214E7E6-CDE6-4D45-9D9B-9E26810060BA}"/>
              </a:ext>
            </a:extLst>
          </p:cNvPr>
          <p:cNvSpPr/>
          <p:nvPr/>
        </p:nvSpPr>
        <p:spPr>
          <a:xfrm>
            <a:off x="6585233" y="1485656"/>
            <a:ext cx="1596518" cy="3901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21 Rectángulo">
            <a:extLst>
              <a:ext uri="{FF2B5EF4-FFF2-40B4-BE49-F238E27FC236}">
                <a16:creationId xmlns:a16="http://schemas.microsoft.com/office/drawing/2014/main" id="{C2FD8689-5C0D-4426-8546-A3D41FB63A41}"/>
              </a:ext>
            </a:extLst>
          </p:cNvPr>
          <p:cNvSpPr/>
          <p:nvPr/>
        </p:nvSpPr>
        <p:spPr>
          <a:xfrm>
            <a:off x="5606155" y="3429000"/>
            <a:ext cx="1862155" cy="30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CO" sz="1600" b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Ancizar Sans" pitchFamily="34" charset="0"/>
                <a:cs typeface="Ancizar Sans"/>
              </a:rPr>
              <a:t>IMAGEN</a:t>
            </a:r>
            <a:endParaRPr lang="es-ES" sz="1600" b="1" spc="300" dirty="0">
              <a:solidFill>
                <a:schemeClr val="tx1">
                  <a:lumMod val="50000"/>
                  <a:lumOff val="50000"/>
                </a:schemeClr>
              </a:solidFill>
              <a:latin typeface="Ancizar Sans" pitchFamily="34" charset="0"/>
              <a:cs typeface="Ancizar Sans"/>
            </a:endParaRPr>
          </a:p>
        </p:txBody>
      </p:sp>
      <p:pic>
        <p:nvPicPr>
          <p:cNvPr id="1026" name="Picture 2" descr="Nudos moleculares o la Química anudada - Matemáticas y sus fronteras">
            <a:extLst>
              <a:ext uri="{FF2B5EF4-FFF2-40B4-BE49-F238E27FC236}">
                <a16:creationId xmlns:a16="http://schemas.microsoft.com/office/drawing/2014/main" id="{806805BB-DF3F-D246-8EB1-1185C6F90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21" y="1850136"/>
            <a:ext cx="1763241" cy="314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or qué es tan importante la criptografía? - Platinum ciberseguridad">
            <a:extLst>
              <a:ext uri="{FF2B5EF4-FFF2-40B4-BE49-F238E27FC236}">
                <a16:creationId xmlns:a16="http://schemas.microsoft.com/office/drawing/2014/main" id="{8C772E06-2681-032C-0FC8-FA74F4DA7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579" y="1254886"/>
            <a:ext cx="3794055" cy="441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DC542D8-B010-4317-26B6-87F3A2A78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682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4C792249-3802-AE65-5235-E3E33340F0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602947" y="5767510"/>
            <a:ext cx="4849071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Platinum Ciber. (2021, agosto). </a:t>
            </a:r>
            <a:r>
              <a:rPr kumimoji="0" lang="es-CO" altLang="es-CO" sz="800" b="0" i="1" u="none" strike="noStrike" cap="none" normalizeH="0" baseline="0" dirty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Criptografía digital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 [Imagen]. </a:t>
            </a: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PlatinumCiber.com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  <a:cs typeface="Arial" panose="020B0604020202020204" pitchFamily="34" charset="0"/>
              </a:rPr>
              <a:t>. 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https://www.platinumciber.com/wp-content/uploads/2021/08/criptogrfia-2.webp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04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 txBox="1">
            <a:spLocks/>
          </p:cNvSpPr>
          <p:nvPr/>
        </p:nvSpPr>
        <p:spPr>
          <a:xfrm>
            <a:off x="477376" y="2390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2400" dirty="0">
              <a:solidFill>
                <a:srgbClr val="172B7E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477375" y="641723"/>
            <a:ext cx="7877165" cy="2422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1400" spc="300" dirty="0">
              <a:solidFill>
                <a:srgbClr val="172B7E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59080" y="6294120"/>
            <a:ext cx="31165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  <a:p>
            <a:endParaRPr lang="es-CO" sz="900" i="1" dirty="0">
              <a:solidFill>
                <a:srgbClr val="F2E6CC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101F4A0-99AA-F5B3-9A5A-33DE5827EC48}"/>
              </a:ext>
            </a:extLst>
          </p:cNvPr>
          <p:cNvSpPr txBox="1">
            <a:spLocks/>
          </p:cNvSpPr>
          <p:nvPr/>
        </p:nvSpPr>
        <p:spPr>
          <a:xfrm>
            <a:off x="629776" y="391430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Black" panose="020A0A02070300000003" pitchFamily="18" charset="0"/>
                <a:cs typeface="Ancizar Sans Extrabold"/>
              </a:rPr>
              <a:t>Aplicaciones en GPS</a:t>
            </a:r>
          </a:p>
        </p:txBody>
      </p:sp>
      <p:pic>
        <p:nvPicPr>
          <p:cNvPr id="10244" name="Picture 4" descr="Graph Theory and Machine Learning">
            <a:extLst>
              <a:ext uri="{FF2B5EF4-FFF2-40B4-BE49-F238E27FC236}">
                <a16:creationId xmlns:a16="http://schemas.microsoft.com/office/drawing/2014/main" id="{0541C246-7FD2-CCCC-5CCD-AF02D3F3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76" y="931934"/>
            <a:ext cx="7709095" cy="44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752AC27-DEBC-7725-9F11-49047694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8D2FF-38B1-80E2-0A72-81534EA71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76" y="5521856"/>
            <a:ext cx="7709094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 defTabSz="914400"/>
            <a:r>
              <a:rPr lang="es-CO" sz="800" dirty="0">
                <a:latin typeface="+mj-lt"/>
              </a:rPr>
              <a:t>LinkedIn. (2018). </a:t>
            </a:r>
            <a:r>
              <a:rPr lang="es-CO" sz="800" i="1" dirty="0">
                <a:latin typeface="+mj-lt"/>
              </a:rPr>
              <a:t>Diagrama matemático ilustrativo</a:t>
            </a:r>
            <a:r>
              <a:rPr lang="es-CO" sz="800" dirty="0">
                <a:latin typeface="+mj-lt"/>
              </a:rPr>
              <a:t> [Imagen]. LinkedIn. </a:t>
            </a:r>
            <a:r>
              <a:rPr lang="es-CO" sz="800" dirty="0"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https://media.licdn.com/dms/image/v2/C5612AQE2tkpwloU2NQ/article-inline_image-shrink_1000_1488/article-inline_image-shrink_1000_1488/0/1526725052442?e=1762387200&amp;v=beta&amp;t=0e3kQ4iIy35EwlY1YqQpxF-KMzKyNqGcbLauxBMaPEE</a:t>
            </a:r>
            <a:r>
              <a:rPr lang="es-CO" altLang="es-CO" sz="8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96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os contenedores-08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" y="1178600"/>
            <a:ext cx="7949514" cy="456544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535686" y="430554"/>
            <a:ext cx="6609810" cy="395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rgbClr val="172B7E"/>
                </a:solidFill>
                <a:latin typeface="Ancizar Serif Black" panose="020A0A02070300000003" pitchFamily="18" charset="0"/>
                <a:cs typeface="Ancizar Sans Extrabold"/>
              </a:rPr>
              <a:t>Aplicaciones en química y biología.   </a:t>
            </a: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602947" y="1240773"/>
            <a:ext cx="798488" cy="561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4000" dirty="0">
              <a:solidFill>
                <a:srgbClr val="19937C"/>
              </a:solidFill>
              <a:latin typeface="Ancizar Sans Extrabold"/>
              <a:cs typeface="Ancizar Sans Extrabold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259080" y="629412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Facultad  de Ciencias </a:t>
            </a:r>
          </a:p>
          <a:p>
            <a:r>
              <a:rPr lang="en-US" sz="900" i="1" dirty="0">
                <a:solidFill>
                  <a:srgbClr val="F2E6CC"/>
                </a:solidFill>
                <a:latin typeface="Ancizar Sans" panose="020B0602040300000003" pitchFamily="34" charset="0"/>
              </a:rPr>
              <a:t>Sede Medellín </a:t>
            </a:r>
          </a:p>
        </p:txBody>
      </p:sp>
      <p:sp>
        <p:nvSpPr>
          <p:cNvPr id="18" name="1 Rectángulo">
            <a:extLst>
              <a:ext uri="{FF2B5EF4-FFF2-40B4-BE49-F238E27FC236}">
                <a16:creationId xmlns:a16="http://schemas.microsoft.com/office/drawing/2014/main" id="{2214E7E6-CDE6-4D45-9D9B-9E26810060BA}"/>
              </a:ext>
            </a:extLst>
          </p:cNvPr>
          <p:cNvSpPr/>
          <p:nvPr/>
        </p:nvSpPr>
        <p:spPr>
          <a:xfrm>
            <a:off x="6585233" y="1485656"/>
            <a:ext cx="1596518" cy="3901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68096BD-8F7E-3E25-76AC-910AF3079C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890" y="1297622"/>
            <a:ext cx="3641132" cy="413465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4338" name="Picture 2" descr="Nudos moleculares o la Química anudada - Matemáticas y sus fronteras">
            <a:extLst>
              <a:ext uri="{FF2B5EF4-FFF2-40B4-BE49-F238E27FC236}">
                <a16:creationId xmlns:a16="http://schemas.microsoft.com/office/drawing/2014/main" id="{F0F8DD2B-E6F5-2AEE-895D-13D7B7D3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971" y="1321424"/>
            <a:ext cx="3469280" cy="413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A248100-A96D-8FCA-7C1B-BCCBF7BC47D2}"/>
              </a:ext>
            </a:extLst>
          </p:cNvPr>
          <p:cNvSpPr txBox="1">
            <a:spLocks/>
          </p:cNvSpPr>
          <p:nvPr/>
        </p:nvSpPr>
        <p:spPr>
          <a:xfrm>
            <a:off x="6401924" y="5689520"/>
            <a:ext cx="1963135" cy="248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900" dirty="0">
              <a:solidFill>
                <a:schemeClr val="tx1">
                  <a:lumMod val="65000"/>
                  <a:lumOff val="35000"/>
                </a:schemeClr>
              </a:solidFill>
              <a:latin typeface="Ancizar Sans"/>
              <a:cs typeface="Ancizar San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E155F1-B229-6BCD-B157-63820630E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535687" y="5719560"/>
            <a:ext cx="7829372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Madrimasd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. (2018, octubre). </a:t>
            </a:r>
            <a:r>
              <a:rPr kumimoji="0" lang="es-CO" altLang="es-CO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Scale</a:t>
            </a:r>
            <a:r>
              <a:rPr kumimoji="0" lang="es-CO" altLang="es-CO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</a:t>
            </a:r>
            <a:r>
              <a:rPr kumimoji="0" lang="es-CO" altLang="es-CO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width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 [Gráfico]. Blog “Matemáticas y sus fronteras”.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https://www.madrimasd.org/blogs/matematicas/files/2018/10/scaletowidth.png</a:t>
            </a:r>
            <a:endParaRPr lang="es-CO" altLang="es-CO" sz="8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8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Madrimasd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. (2019, diciembre). </a:t>
            </a:r>
            <a:r>
              <a:rPr kumimoji="0" lang="es-CO" altLang="es-CO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Nudo molecular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 [Imagen]. Blog “Matemáticas y sus fronteras”. 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https://www.madrimasd.org/blogs/matematicas/files/2019/12/nudo_molecular0.png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896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4E999-2534-2D28-FD2E-A28C65F2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O" dirty="0"/>
              <a:t>🌍 </a:t>
            </a:r>
            <a:r>
              <a:rPr lang="es-ES" dirty="0">
                <a:solidFill>
                  <a:srgbClr val="172B7E"/>
                </a:solidFill>
                <a:latin typeface="Ancizar Serif Extrabold" panose="020A0902070300000003" pitchFamily="18" charset="0"/>
              </a:rPr>
              <a:t>Conclusión </a:t>
            </a:r>
            <a:r>
              <a:rPr lang="es-CO" dirty="0"/>
              <a:t> </a:t>
            </a:r>
            <a:endParaRPr lang="es-ES_tradn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4DF65B-BE59-4BC7-F779-27C8661124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Las matemáticas puras, aunque no siempre tienen una aplicación inmediata, su valor se encuentra en ampliar el conocimiento humano y prepararnos para los descubrimientos del futuro. 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EF77E61C-16E1-E87C-C0BD-424A6222BC00}"/>
              </a:ext>
            </a:extLst>
          </p:cNvPr>
          <p:cNvSpPr txBox="1">
            <a:spLocks/>
          </p:cNvSpPr>
          <p:nvPr/>
        </p:nvSpPr>
        <p:spPr>
          <a:xfrm>
            <a:off x="457200" y="3560733"/>
            <a:ext cx="8229600" cy="12908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 panose="020B0502040300000003" pitchFamily="34" charset="0"/>
                <a:cs typeface="Ancizar Serif"/>
              </a:rPr>
              <a:t>A lo largo de la historia, ideas que empezaron como simples ejercicios lúdicos y teóricos han evolucionado hasta convertirse en las bases de tecnologías fundamentales en las que el ser humano depende hoy en día. 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76D1A3-E863-22C6-7E8E-49B1471E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48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847725" y="347005"/>
            <a:ext cx="7448550" cy="647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CO" sz="2200" dirty="0">
                <a:solidFill>
                  <a:srgbClr val="172B7E"/>
                </a:solidFill>
                <a:latin typeface="Ancizar Serif Extrabold" panose="020A0902070300000003" pitchFamily="18" charset="0"/>
                <a:ea typeface="+mj-ea"/>
                <a:cs typeface="Ancizar Sans Extrabold"/>
              </a:rPr>
              <a:t>Referencias </a:t>
            </a:r>
          </a:p>
          <a:p>
            <a:endParaRPr lang="es-CO" sz="800" b="1" dirty="0"/>
          </a:p>
          <a:p>
            <a:r>
              <a:rPr lang="es-CO" sz="800" dirty="0"/>
              <a:t>Adams, C. C. (2004). </a:t>
            </a:r>
            <a:r>
              <a:rPr lang="es-CO" sz="800" i="1" dirty="0"/>
              <a:t>The </a:t>
            </a:r>
            <a:r>
              <a:rPr lang="es-CO" sz="800" i="1" dirty="0" err="1"/>
              <a:t>Knot</a:t>
            </a:r>
            <a:r>
              <a:rPr lang="es-CO" sz="800" i="1" dirty="0"/>
              <a:t> Book: </a:t>
            </a:r>
            <a:r>
              <a:rPr lang="es-CO" sz="800" i="1" dirty="0" err="1"/>
              <a:t>An</a:t>
            </a:r>
            <a:r>
              <a:rPr lang="es-CO" sz="800" i="1" dirty="0"/>
              <a:t> Elementary </a:t>
            </a:r>
            <a:r>
              <a:rPr lang="es-CO" sz="800" i="1" dirty="0" err="1"/>
              <a:t>Introduction</a:t>
            </a:r>
            <a:r>
              <a:rPr lang="es-CO" sz="800" i="1" dirty="0"/>
              <a:t> </a:t>
            </a:r>
            <a:r>
              <a:rPr lang="es-CO" sz="800" i="1" dirty="0" err="1"/>
              <a:t>to</a:t>
            </a:r>
            <a:r>
              <a:rPr lang="es-CO" sz="800" i="1" dirty="0"/>
              <a:t> </a:t>
            </a:r>
            <a:r>
              <a:rPr lang="es-CO" sz="800" i="1" dirty="0" err="1"/>
              <a:t>the</a:t>
            </a:r>
            <a:r>
              <a:rPr lang="es-CO" sz="800" i="1" dirty="0"/>
              <a:t> </a:t>
            </a:r>
            <a:r>
              <a:rPr lang="es-CO" sz="800" i="1" dirty="0" err="1"/>
              <a:t>Mathematical</a:t>
            </a:r>
            <a:r>
              <a:rPr lang="es-CO" sz="800" i="1" dirty="0"/>
              <a:t> </a:t>
            </a:r>
            <a:r>
              <a:rPr lang="es-CO" sz="800" i="1" dirty="0" err="1"/>
              <a:t>Theory</a:t>
            </a:r>
            <a:r>
              <a:rPr lang="es-CO" sz="800" i="1" dirty="0"/>
              <a:t> </a:t>
            </a:r>
            <a:r>
              <a:rPr lang="es-CO" sz="800" i="1" dirty="0" err="1"/>
              <a:t>of</a:t>
            </a:r>
            <a:r>
              <a:rPr lang="es-CO" sz="800" i="1" dirty="0"/>
              <a:t> </a:t>
            </a:r>
            <a:r>
              <a:rPr lang="es-CO" sz="800" i="1" dirty="0" err="1"/>
              <a:t>Knots</a:t>
            </a:r>
            <a:r>
              <a:rPr lang="es-CO" sz="800" i="1" dirty="0"/>
              <a:t>.</a:t>
            </a:r>
            <a:r>
              <a:rPr lang="es-CO" sz="800" dirty="0"/>
              <a:t> American </a:t>
            </a:r>
            <a:r>
              <a:rPr lang="es-CO" sz="800" dirty="0" err="1"/>
              <a:t>Mathematical</a:t>
            </a:r>
            <a:r>
              <a:rPr lang="es-CO" sz="800" dirty="0"/>
              <a:t> </a:t>
            </a:r>
            <a:r>
              <a:rPr lang="es-CO" sz="800" dirty="0" err="1"/>
              <a:t>Society</a:t>
            </a:r>
            <a:r>
              <a:rPr lang="es-CO" sz="800" dirty="0"/>
              <a:t>.</a:t>
            </a:r>
          </a:p>
          <a:p>
            <a:endParaRPr lang="es-CO" sz="800" dirty="0"/>
          </a:p>
          <a:p>
            <a:r>
              <a:rPr lang="es-CO" sz="800" dirty="0" err="1"/>
              <a:t>Angewandte</a:t>
            </a:r>
            <a:r>
              <a:rPr lang="es-CO" sz="800" dirty="0"/>
              <a:t> </a:t>
            </a:r>
            <a:r>
              <a:rPr lang="es-CO" sz="800" dirty="0" err="1"/>
              <a:t>Chemie</a:t>
            </a:r>
            <a:r>
              <a:rPr lang="es-CO" sz="800" dirty="0"/>
              <a:t> International </a:t>
            </a:r>
            <a:r>
              <a:rPr lang="es-CO" sz="800" dirty="0" err="1"/>
              <a:t>Edition</a:t>
            </a:r>
            <a:r>
              <a:rPr lang="es-CO" sz="800" dirty="0"/>
              <a:t>. (2019). </a:t>
            </a:r>
            <a:r>
              <a:rPr lang="es-CO" sz="800" i="1" dirty="0"/>
              <a:t>Figura del artículo ANIE-56-11166</a:t>
            </a:r>
            <a:r>
              <a:rPr lang="es-CO" sz="800" dirty="0"/>
              <a:t> [Gráfico]. </a:t>
            </a:r>
            <a:r>
              <a:rPr lang="es-CO" sz="800" dirty="0" err="1"/>
              <a:t>Madrimasd</a:t>
            </a:r>
            <a:r>
              <a:rPr lang="es-CO" sz="800" dirty="0"/>
              <a:t>. </a:t>
            </a:r>
            <a:r>
              <a:rPr lang="es-CO" sz="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https://www.madrimasd.org/blogs/matematicas/files/2019/12/ANIE-56-11166-g014.jpg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/>
              <a:t>Burton, D. M. (2011). </a:t>
            </a:r>
            <a:r>
              <a:rPr lang="es-CO" sz="800" i="1" dirty="0"/>
              <a:t>Elementary </a:t>
            </a:r>
            <a:r>
              <a:rPr lang="es-CO" sz="800" i="1" dirty="0" err="1"/>
              <a:t>Number</a:t>
            </a:r>
            <a:r>
              <a:rPr lang="es-CO" sz="800" i="1" dirty="0"/>
              <a:t> </a:t>
            </a:r>
            <a:r>
              <a:rPr lang="es-CO" sz="800" i="1" dirty="0" err="1"/>
              <a:t>Theory</a:t>
            </a:r>
            <a:r>
              <a:rPr lang="es-CO" sz="800" i="1" dirty="0"/>
              <a:t>.</a:t>
            </a:r>
            <a:r>
              <a:rPr lang="es-CO" sz="800" dirty="0"/>
              <a:t> McGraw-Hill </a:t>
            </a:r>
            <a:r>
              <a:rPr lang="es-CO" sz="800" dirty="0" err="1"/>
              <a:t>Education</a:t>
            </a:r>
            <a:r>
              <a:rPr lang="es-CO" sz="800" dirty="0"/>
              <a:t>.</a:t>
            </a:r>
          </a:p>
          <a:p>
            <a:endParaRPr lang="es-CO" sz="800" dirty="0"/>
          </a:p>
          <a:p>
            <a:r>
              <a:rPr lang="es-CO" sz="800" dirty="0"/>
              <a:t>Endersch, J. F. (1736). </a:t>
            </a:r>
            <a:r>
              <a:rPr lang="es-CO" sz="800" i="1" dirty="0"/>
              <a:t>Mapa histórico de Königsberg</a:t>
            </a:r>
            <a:r>
              <a:rPr lang="es-CO" sz="800" dirty="0"/>
              <a:t> [Mapa]. Dominio público.</a:t>
            </a:r>
          </a:p>
          <a:p>
            <a:endParaRPr lang="es-CO" sz="800" dirty="0"/>
          </a:p>
          <a:p>
            <a:r>
              <a:rPr lang="es-CO" sz="800" dirty="0"/>
              <a:t>Euler, L. (1736). </a:t>
            </a:r>
            <a:r>
              <a:rPr lang="es-CO" sz="800" i="1" dirty="0"/>
              <a:t>Bridges </a:t>
            </a:r>
            <a:r>
              <a:rPr lang="es-CO" sz="800" i="1" dirty="0" err="1"/>
              <a:t>of</a:t>
            </a:r>
            <a:r>
              <a:rPr lang="es-CO" sz="800" i="1" dirty="0"/>
              <a:t> Königsberg</a:t>
            </a:r>
            <a:r>
              <a:rPr lang="es-CO" sz="800" dirty="0"/>
              <a:t> [Ilustración]. Wikimedia </a:t>
            </a:r>
            <a:r>
              <a:rPr lang="es-CO" sz="800" dirty="0" err="1"/>
              <a:t>Commons</a:t>
            </a:r>
            <a:r>
              <a:rPr lang="es-CO" sz="800" dirty="0"/>
              <a:t>. </a:t>
            </a:r>
            <a:r>
              <a:rPr lang="es-CO" sz="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https://upload.wikimedia.org/wikipedia/commons/e/e5/Bridges_of_Konigsberg.png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Jayaraman</a:t>
            </a:r>
            <a:r>
              <a:rPr lang="es-CO" sz="800" dirty="0"/>
              <a:t>, H. (2022, mayo). </a:t>
            </a:r>
            <a:r>
              <a:rPr lang="es-CO" sz="800" i="1" dirty="0"/>
              <a:t>Screenshot-201: Modelo bayesiano</a:t>
            </a:r>
            <a:r>
              <a:rPr lang="es-CO" sz="800" dirty="0"/>
              <a:t> [Imagen]. Lancaster </a:t>
            </a:r>
            <a:r>
              <a:rPr lang="es-CO" sz="800" dirty="0" err="1"/>
              <a:t>University</a:t>
            </a:r>
            <a:r>
              <a:rPr lang="es-CO" sz="800" dirty="0"/>
              <a:t>, STOR-i </a:t>
            </a:r>
            <a:r>
              <a:rPr lang="es-CO" sz="800" dirty="0" err="1"/>
              <a:t>Student</a:t>
            </a:r>
            <a:r>
              <a:rPr lang="es-CO" sz="800" dirty="0"/>
              <a:t> Sites. </a:t>
            </a:r>
            <a:r>
              <a:rPr lang="es-CO" sz="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https://www.lancaster.ac.uk/stor-i-student-sites/harini-jayaraman/wp-content/uploads/sites/35/2022/05/Screenshot-201-1-1024x576.png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/>
              <a:t>Katz, V. J. (2009). </a:t>
            </a:r>
            <a:r>
              <a:rPr lang="es-CO" sz="800" i="1" dirty="0"/>
              <a:t>A History </a:t>
            </a:r>
            <a:r>
              <a:rPr lang="es-CO" sz="800" i="1" dirty="0" err="1"/>
              <a:t>of</a:t>
            </a:r>
            <a:r>
              <a:rPr lang="es-CO" sz="800" i="1" dirty="0"/>
              <a:t> Mathematics: </a:t>
            </a:r>
            <a:r>
              <a:rPr lang="es-CO" sz="800" i="1" dirty="0" err="1"/>
              <a:t>An</a:t>
            </a:r>
            <a:r>
              <a:rPr lang="es-CO" sz="800" i="1" dirty="0"/>
              <a:t> </a:t>
            </a:r>
            <a:r>
              <a:rPr lang="es-CO" sz="800" i="1" dirty="0" err="1"/>
              <a:t>Introduction</a:t>
            </a:r>
            <a:r>
              <a:rPr lang="es-CO" sz="800" dirty="0"/>
              <a:t> (3rd ed.). Pearson.</a:t>
            </a:r>
          </a:p>
          <a:p>
            <a:endParaRPr lang="es-CO" sz="800" dirty="0"/>
          </a:p>
          <a:p>
            <a:r>
              <a:rPr lang="es-CO" sz="800" dirty="0" err="1"/>
              <a:t>Kneller</a:t>
            </a:r>
            <a:r>
              <a:rPr lang="es-CO" sz="800" dirty="0"/>
              <a:t>, G. (1689). </a:t>
            </a:r>
            <a:r>
              <a:rPr lang="es-CO" sz="800" i="1" dirty="0" err="1"/>
              <a:t>Portrait</a:t>
            </a:r>
            <a:r>
              <a:rPr lang="es-CO" sz="800" i="1" dirty="0"/>
              <a:t> </a:t>
            </a:r>
            <a:r>
              <a:rPr lang="es-CO" sz="800" i="1" dirty="0" err="1"/>
              <a:t>of</a:t>
            </a:r>
            <a:r>
              <a:rPr lang="es-CO" sz="800" i="1" dirty="0"/>
              <a:t> Sir Isaac Newton</a:t>
            </a:r>
            <a:r>
              <a:rPr lang="es-CO" sz="800" dirty="0"/>
              <a:t> [Pintura]. Wikimedia </a:t>
            </a:r>
            <a:r>
              <a:rPr lang="es-CO" sz="800" dirty="0" err="1"/>
              <a:t>Commons</a:t>
            </a:r>
            <a:r>
              <a:rPr lang="es-CO" sz="800" dirty="0"/>
              <a:t>. </a:t>
            </a:r>
            <a:r>
              <a:rPr lang="es-CO" sz="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https://upload.wikimedia.org/wikipedia/commons/thumb/3/3b/Portrait_of_Sir_Isaac_Newton%2C_1689.jpg/996px-Portrait_of_Sir_Isaac_Newton%2C_1689.jpg</a:t>
            </a:r>
            <a:endParaRPr lang="es-CO" sz="800" dirty="0"/>
          </a:p>
          <a:p>
            <a:r>
              <a:rPr lang="es-CO" sz="800" dirty="0"/>
              <a:t>LinkedIn. (2018). </a:t>
            </a:r>
            <a:r>
              <a:rPr lang="es-CO" sz="800" i="1" dirty="0"/>
              <a:t>Diagrama matemático ilustrativo</a:t>
            </a:r>
            <a:r>
              <a:rPr lang="es-CO" sz="800" dirty="0"/>
              <a:t> [Imagen]. LinkedIn. </a:t>
            </a:r>
            <a:r>
              <a:rPr lang="es-CO" sz="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https://media.licdn.com/dms/image/v2/C5612AQE2tkpwloU2NQ/article-inline_image-shrink_1000_1488/article-inline_image-shrink_1000_1488/0/1526725052442?e=1762387200&amp;v=beta&amp;t=0e3kQ4iIy35EwlY1YqQpxF-KMzKyNqGcbLauxBMaPEE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Madrimasd</a:t>
            </a:r>
            <a:r>
              <a:rPr lang="es-CO" sz="800" dirty="0"/>
              <a:t>. (2018, octubre). </a:t>
            </a:r>
            <a:r>
              <a:rPr lang="es-CO" sz="800" i="1" dirty="0" err="1"/>
              <a:t>Scale</a:t>
            </a:r>
            <a:r>
              <a:rPr lang="es-CO" sz="800" i="1" dirty="0"/>
              <a:t> </a:t>
            </a:r>
            <a:r>
              <a:rPr lang="es-CO" sz="800" i="1" dirty="0" err="1"/>
              <a:t>to</a:t>
            </a:r>
            <a:r>
              <a:rPr lang="es-CO" sz="800" i="1" dirty="0"/>
              <a:t> </a:t>
            </a:r>
            <a:r>
              <a:rPr lang="es-CO" sz="800" i="1" dirty="0" err="1"/>
              <a:t>width</a:t>
            </a:r>
            <a:r>
              <a:rPr lang="es-CO" sz="800" dirty="0"/>
              <a:t> [Gráfico]. Blog “Matemáticas y sus fronteras”. </a:t>
            </a:r>
            <a:r>
              <a:rPr lang="es-CO" sz="8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https://www.madrimasd.org/blogs/matematicas/files/2018/10/scaletowidth.png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Madrimasd</a:t>
            </a:r>
            <a:r>
              <a:rPr lang="es-CO" sz="800" dirty="0"/>
              <a:t>. (2019, diciembre). </a:t>
            </a:r>
            <a:r>
              <a:rPr lang="es-CO" sz="800" i="1" dirty="0"/>
              <a:t>Nudo molecular</a:t>
            </a:r>
            <a:r>
              <a:rPr lang="es-CO" sz="800" dirty="0"/>
              <a:t> [Imagen]. Blog “Matemáticas y sus fronteras”. </a:t>
            </a:r>
            <a:r>
              <a:rPr lang="es-CO" sz="8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https://www.madrimasd.org/blogs/matematicas/files/2019/12/nudo_molecular0.png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Nature</a:t>
            </a:r>
            <a:r>
              <a:rPr lang="es-CO" sz="800" dirty="0"/>
              <a:t> News. (2016, marzo 15). </a:t>
            </a:r>
            <a:r>
              <a:rPr lang="es-CO" sz="800" i="1" dirty="0"/>
              <a:t>Andrew </a:t>
            </a:r>
            <a:r>
              <a:rPr lang="es-CO" sz="800" i="1" dirty="0" err="1"/>
              <a:t>Wiles</a:t>
            </a:r>
            <a:r>
              <a:rPr lang="es-CO" sz="800" i="1" dirty="0"/>
              <a:t> frente al pizarrón con el Último Teorema de Fermat</a:t>
            </a:r>
            <a:r>
              <a:rPr lang="es-CO" sz="800" dirty="0"/>
              <a:t> [Fotografía]. Francis (</a:t>
            </a:r>
            <a:r>
              <a:rPr lang="es-CO" sz="800" dirty="0" err="1"/>
              <a:t>Naukas</a:t>
            </a:r>
            <a:r>
              <a:rPr lang="es-CO" sz="800" dirty="0"/>
              <a:t>). </a:t>
            </a:r>
            <a:r>
              <a:rPr lang="es-CO" sz="8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https://francis.naukas.com/files/2016/03/Dibujo20160315-Andrew-Wiles-fermat-last-theorem-blackboard-lowAP_9801060667-nature-news.jpg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/>
              <a:t>Platinum Ciber. (2021, agosto). </a:t>
            </a:r>
            <a:r>
              <a:rPr lang="es-CO" sz="800" i="1" dirty="0"/>
              <a:t>Criptografía digital</a:t>
            </a:r>
            <a:r>
              <a:rPr lang="es-CO" sz="800" dirty="0"/>
              <a:t> [Imagen]. </a:t>
            </a:r>
            <a:r>
              <a:rPr lang="es-CO" sz="800" dirty="0" err="1"/>
              <a:t>PlatinumCiber.com</a:t>
            </a:r>
            <a:r>
              <a:rPr lang="es-CO" sz="800" dirty="0"/>
              <a:t>. </a:t>
            </a:r>
            <a:r>
              <a:rPr lang="es-CO" sz="8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https://www.platinumciber.com/wp-content/uploads/2021/08/criptogrfia-2.webp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Ribenboim</a:t>
            </a:r>
            <a:r>
              <a:rPr lang="es-CO" sz="800" dirty="0"/>
              <a:t>, P. (1996). </a:t>
            </a:r>
            <a:r>
              <a:rPr lang="es-CO" sz="800" i="1" dirty="0"/>
              <a:t>The Little Book </a:t>
            </a:r>
            <a:r>
              <a:rPr lang="es-CO" sz="800" i="1" dirty="0" err="1"/>
              <a:t>of</a:t>
            </a:r>
            <a:r>
              <a:rPr lang="es-CO" sz="800" i="1" dirty="0"/>
              <a:t> Big Primes.</a:t>
            </a:r>
            <a:r>
              <a:rPr lang="es-CO" sz="800" dirty="0"/>
              <a:t> Springer-</a:t>
            </a:r>
            <a:r>
              <a:rPr lang="es-CO" sz="800" dirty="0" err="1"/>
              <a:t>Verlag</a:t>
            </a:r>
            <a:r>
              <a:rPr lang="es-CO" sz="800" dirty="0"/>
              <a:t>.</a:t>
            </a:r>
          </a:p>
          <a:p>
            <a:endParaRPr lang="es-CO" sz="800" dirty="0"/>
          </a:p>
          <a:p>
            <a:r>
              <a:rPr lang="es-CO" sz="800" dirty="0"/>
              <a:t>Stewart, I. (2012). </a:t>
            </a:r>
            <a:r>
              <a:rPr lang="es-CO" sz="800" i="1" dirty="0"/>
              <a:t>In </a:t>
            </a:r>
            <a:r>
              <a:rPr lang="es-CO" sz="800" i="1" dirty="0" err="1"/>
              <a:t>Pursuit</a:t>
            </a:r>
            <a:r>
              <a:rPr lang="es-CO" sz="800" i="1" dirty="0"/>
              <a:t> </a:t>
            </a:r>
            <a:r>
              <a:rPr lang="es-CO" sz="800" i="1" dirty="0" err="1"/>
              <a:t>of</a:t>
            </a:r>
            <a:r>
              <a:rPr lang="es-CO" sz="800" i="1" dirty="0"/>
              <a:t> </a:t>
            </a:r>
            <a:r>
              <a:rPr lang="es-CO" sz="800" i="1" dirty="0" err="1"/>
              <a:t>the</a:t>
            </a:r>
            <a:r>
              <a:rPr lang="es-CO" sz="800" i="1" dirty="0"/>
              <a:t> </a:t>
            </a:r>
            <a:r>
              <a:rPr lang="es-CO" sz="800" i="1" dirty="0" err="1"/>
              <a:t>Unknown</a:t>
            </a:r>
            <a:r>
              <a:rPr lang="es-CO" sz="800" i="1" dirty="0"/>
              <a:t>: 17 </a:t>
            </a:r>
            <a:r>
              <a:rPr lang="es-CO" sz="800" i="1" dirty="0" err="1"/>
              <a:t>Equations</a:t>
            </a:r>
            <a:r>
              <a:rPr lang="es-CO" sz="800" i="1" dirty="0"/>
              <a:t> </a:t>
            </a:r>
            <a:r>
              <a:rPr lang="es-CO" sz="800" i="1" dirty="0" err="1"/>
              <a:t>That</a:t>
            </a:r>
            <a:r>
              <a:rPr lang="es-CO" sz="800" i="1" dirty="0"/>
              <a:t> </a:t>
            </a:r>
            <a:r>
              <a:rPr lang="es-CO" sz="800" i="1" dirty="0" err="1"/>
              <a:t>Changed</a:t>
            </a:r>
            <a:r>
              <a:rPr lang="es-CO" sz="800" i="1" dirty="0"/>
              <a:t> </a:t>
            </a:r>
            <a:r>
              <a:rPr lang="es-CO" sz="800" i="1" dirty="0" err="1"/>
              <a:t>the</a:t>
            </a:r>
            <a:r>
              <a:rPr lang="es-CO" sz="800" i="1" dirty="0"/>
              <a:t> </a:t>
            </a:r>
            <a:r>
              <a:rPr lang="es-CO" sz="800" i="1" dirty="0" err="1"/>
              <a:t>World</a:t>
            </a:r>
            <a:r>
              <a:rPr lang="es-CO" sz="800" i="1" dirty="0"/>
              <a:t>.</a:t>
            </a:r>
            <a:r>
              <a:rPr lang="es-CO" sz="800" dirty="0"/>
              <a:t> Basic </a:t>
            </a:r>
            <a:r>
              <a:rPr lang="es-CO" sz="800" dirty="0" err="1"/>
              <a:t>Books</a:t>
            </a:r>
            <a:r>
              <a:rPr lang="es-CO" sz="800" dirty="0"/>
              <a:t>.</a:t>
            </a:r>
          </a:p>
          <a:p>
            <a:endParaRPr lang="es-CO" sz="800" dirty="0"/>
          </a:p>
          <a:p>
            <a:r>
              <a:rPr lang="es-CO" sz="800" dirty="0"/>
              <a:t>Stinson, D. R., &amp; Paterson, M. B. (2018). </a:t>
            </a:r>
            <a:r>
              <a:rPr lang="es-CO" sz="800" i="1" dirty="0" err="1"/>
              <a:t>Cryptography</a:t>
            </a:r>
            <a:r>
              <a:rPr lang="es-CO" sz="800" i="1" dirty="0"/>
              <a:t>: </a:t>
            </a:r>
            <a:r>
              <a:rPr lang="es-CO" sz="800" i="1" dirty="0" err="1"/>
              <a:t>Theory</a:t>
            </a:r>
            <a:r>
              <a:rPr lang="es-CO" sz="800" i="1" dirty="0"/>
              <a:t> and </a:t>
            </a:r>
            <a:r>
              <a:rPr lang="es-CO" sz="800" i="1" dirty="0" err="1"/>
              <a:t>Practice</a:t>
            </a:r>
            <a:r>
              <a:rPr lang="es-CO" sz="800" dirty="0"/>
              <a:t> (4th ed.). CRC </a:t>
            </a:r>
            <a:r>
              <a:rPr lang="es-CO" sz="800" dirty="0" err="1"/>
              <a:t>Press</a:t>
            </a:r>
            <a:r>
              <a:rPr lang="es-CO" sz="800" dirty="0"/>
              <a:t>.</a:t>
            </a:r>
          </a:p>
          <a:p>
            <a:endParaRPr lang="es-CO" sz="800" dirty="0"/>
          </a:p>
          <a:p>
            <a:r>
              <a:rPr lang="es-CO" sz="800" dirty="0" err="1"/>
              <a:t>Sustermans</a:t>
            </a:r>
            <a:r>
              <a:rPr lang="es-CO" sz="800" dirty="0"/>
              <a:t>, J. (1636). </a:t>
            </a:r>
            <a:r>
              <a:rPr lang="es-CO" sz="800" i="1" dirty="0" err="1"/>
              <a:t>Portrait</a:t>
            </a:r>
            <a:r>
              <a:rPr lang="es-CO" sz="800" i="1" dirty="0"/>
              <a:t> </a:t>
            </a:r>
            <a:r>
              <a:rPr lang="es-CO" sz="800" i="1" dirty="0" err="1"/>
              <a:t>of</a:t>
            </a:r>
            <a:r>
              <a:rPr lang="es-CO" sz="800" i="1" dirty="0"/>
              <a:t> Galileo Galilei</a:t>
            </a:r>
            <a:r>
              <a:rPr lang="es-CO" sz="800" dirty="0"/>
              <a:t> [Pintura]. Wikimedia </a:t>
            </a:r>
            <a:r>
              <a:rPr lang="es-CO" sz="800" dirty="0" err="1"/>
              <a:t>Commons</a:t>
            </a:r>
            <a:r>
              <a:rPr lang="es-CO" sz="800" dirty="0"/>
              <a:t>. </a:t>
            </a:r>
            <a:r>
              <a:rPr lang="es-CO" sz="8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https://upload.wikimedia.org/wikipedia/commons/d/d4/Justus_Sustermans_-_Portrait_of_Galileo_Galilei%2C_1636.jpg</a:t>
            </a:r>
            <a:endParaRPr lang="es-CO" sz="800" dirty="0"/>
          </a:p>
          <a:p>
            <a:endParaRPr lang="es-CO" sz="800" dirty="0"/>
          </a:p>
          <a:p>
            <a:r>
              <a:rPr lang="es-CO" sz="800" dirty="0" err="1"/>
              <a:t>Unidentified</a:t>
            </a:r>
            <a:r>
              <a:rPr lang="es-CO" sz="800" dirty="0"/>
              <a:t> </a:t>
            </a:r>
            <a:r>
              <a:rPr lang="es-CO" sz="800" dirty="0" err="1"/>
              <a:t>artist</a:t>
            </a:r>
            <a:r>
              <a:rPr lang="es-CO" sz="800" dirty="0"/>
              <a:t>. (Siglo XVII). </a:t>
            </a:r>
            <a:r>
              <a:rPr lang="es-CO" sz="800" i="1" dirty="0" err="1"/>
              <a:t>Portrait</a:t>
            </a:r>
            <a:r>
              <a:rPr lang="es-CO" sz="800" i="1" dirty="0"/>
              <a:t> </a:t>
            </a:r>
            <a:r>
              <a:rPr lang="es-CO" sz="800" i="1" dirty="0" err="1"/>
              <a:t>of</a:t>
            </a:r>
            <a:r>
              <a:rPr lang="es-CO" sz="800" i="1" dirty="0"/>
              <a:t> Johannes Kepler</a:t>
            </a:r>
            <a:r>
              <a:rPr lang="es-CO" sz="800" dirty="0"/>
              <a:t> [Pintura]. Wikimedia </a:t>
            </a:r>
            <a:r>
              <a:rPr lang="es-CO" sz="800" dirty="0" err="1"/>
              <a:t>Commons</a:t>
            </a:r>
            <a:r>
              <a:rPr lang="es-CO" sz="800" dirty="0"/>
              <a:t>. </a:t>
            </a:r>
            <a:r>
              <a:rPr lang="es-CO" sz="800" dirty="0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https://upload.wikimedia.org/wikipedia/commons/7/74/JKepler.jpg</a:t>
            </a:r>
            <a:endParaRPr lang="es-CO" sz="800" dirty="0"/>
          </a:p>
          <a:p>
            <a:pPr>
              <a:lnSpc>
                <a:spcPct val="130000"/>
              </a:lnSpc>
            </a:pPr>
            <a:endParaRPr lang="es-CO" sz="1000" dirty="0">
              <a:solidFill>
                <a:schemeClr val="tx1">
                  <a:lumMod val="65000"/>
                  <a:lumOff val="35000"/>
                </a:schemeClr>
              </a:solidFill>
              <a:latin typeface="Ancizar Sans Light"/>
              <a:cs typeface="Ancizar Sans Light"/>
            </a:endParaRPr>
          </a:p>
          <a:p>
            <a:pPr>
              <a:lnSpc>
                <a:spcPct val="130000"/>
              </a:lnSpc>
            </a:pPr>
            <a:r>
              <a:rPr lang="es-CO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/>
                <a:cs typeface="Ancizar Sans Light"/>
              </a:rPr>
              <a:t> </a:t>
            </a:r>
          </a:p>
          <a:p>
            <a:pPr>
              <a:lnSpc>
                <a:spcPct val="130000"/>
              </a:lnSpc>
            </a:pPr>
            <a:r>
              <a:rPr lang="es-CO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ncizar Sans Light"/>
                <a:cs typeface="Ancizar Sans Light"/>
              </a:rPr>
              <a:t> </a:t>
            </a:r>
          </a:p>
          <a:p>
            <a:endParaRPr lang="es-CO" sz="1000" dirty="0"/>
          </a:p>
          <a:p>
            <a:endParaRPr lang="es-CO" sz="100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B12A2B0-66FF-28C9-A10F-7C70B520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864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929264" y="2932839"/>
            <a:ext cx="3285471" cy="49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rgbClr val="E03A00"/>
                </a:solidFill>
                <a:latin typeface="Ancizar Serif"/>
                <a:cs typeface="Ancizar Serif"/>
              </a:rPr>
              <a:t>¿Preguntas?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00F696D-7921-5F30-5C0D-CF72EFA2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655995" y="2932839"/>
            <a:ext cx="3832009" cy="49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rgbClr val="E03A00"/>
                </a:solidFill>
                <a:latin typeface="Ancizar Serif"/>
                <a:cs typeface="Ancizar Serif"/>
              </a:rPr>
              <a:t>Muchas gracias.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C6F4E05-7D45-CA41-5496-F59EF475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351236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Plantilla-presentacion.thmx</Template>
  <TotalTime>701</TotalTime>
  <Words>1486</Words>
  <Application>Microsoft Macintosh PowerPoint</Application>
  <PresentationFormat>Presentación en pantalla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5" baseType="lpstr">
      <vt:lpstr>Ancizar Sans</vt:lpstr>
      <vt:lpstr>Ancizar Sans Extrabold</vt:lpstr>
      <vt:lpstr>Ancizar Sans Light</vt:lpstr>
      <vt:lpstr>Ancizar Sans Thin</vt:lpstr>
      <vt:lpstr>Ancizar Serif</vt:lpstr>
      <vt:lpstr>Ancizar Serif Black</vt:lpstr>
      <vt:lpstr>Ancizar Serif Extrabold</vt:lpstr>
      <vt:lpstr>Arial</vt:lpstr>
      <vt:lpstr>Calibri</vt:lpstr>
      <vt:lpstr>Wingdings</vt:lpstr>
      <vt:lpstr>Plantilla-presentacion</vt:lpstr>
      <vt:lpstr>Presentación de PowerPoint</vt:lpstr>
      <vt:lpstr>Presentación de PowerPoint</vt:lpstr>
      <vt:lpstr>Matemáticas Puras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🌍 Conclusión  </vt:lpstr>
      <vt:lpstr>Presentación de PowerPoint</vt:lpstr>
      <vt:lpstr>Presentación de PowerPoint</vt:lpstr>
      <vt:lpstr>Presentación de PowerPoint</vt:lpstr>
    </vt:vector>
  </TitlesOfParts>
  <Company>Unimedios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Shayu Garnica</dc:creator>
  <cp:lastModifiedBy>Thomas Molina Molina</cp:lastModifiedBy>
  <cp:revision>86</cp:revision>
  <dcterms:created xsi:type="dcterms:W3CDTF">2018-07-09T16:33:10Z</dcterms:created>
  <dcterms:modified xsi:type="dcterms:W3CDTF">2025-11-01T01:09:49Z</dcterms:modified>
</cp:coreProperties>
</file>