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2"/>
  </p:notesMasterIdLst>
  <p:sldIdLst>
    <p:sldId id="264" r:id="rId2"/>
    <p:sldId id="266" r:id="rId3"/>
    <p:sldId id="267" r:id="rId4"/>
    <p:sldId id="262" r:id="rId5"/>
    <p:sldId id="269" r:id="rId6"/>
    <p:sldId id="272" r:id="rId7"/>
    <p:sldId id="270" r:id="rId8"/>
    <p:sldId id="271" r:id="rId9"/>
    <p:sldId id="268" r:id="rId10"/>
    <p:sldId id="260" r:id="rId11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6CC"/>
    <a:srgbClr val="E03A00"/>
    <a:srgbClr val="172B7E"/>
    <a:srgbClr val="2BA287"/>
    <a:srgbClr val="19A78C"/>
    <a:srgbClr val="19937C"/>
    <a:srgbClr val="43AB97"/>
    <a:srgbClr val="CC008C"/>
    <a:srgbClr val="00A480"/>
    <a:srgbClr val="00A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5969" autoAdjust="0"/>
  </p:normalViewPr>
  <p:slideViewPr>
    <p:cSldViewPr snapToGrid="0" snapToObjects="1">
      <p:cViewPr varScale="1">
        <p:scale>
          <a:sx n="84" d="100"/>
          <a:sy n="84" d="100"/>
        </p:scale>
        <p:origin x="800" y="5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06D32-3F26-4A60-B79B-32791D3BB2C9}" type="datetimeFigureOut">
              <a:rPr lang="es-CO" smtClean="0"/>
              <a:t>31/10/2025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695FE-B573-405B-994F-FAFC23062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91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C620-E659-49B0-9EFB-BB66AA813A77}" type="datetime1">
              <a:rPr lang="es-ES" smtClean="0"/>
              <a:t>31/10/2025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17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68595"/>
            <a:ext cx="8229600" cy="69463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77E6E-80CA-4637-84D1-CB00AA43C9A5}" type="datetime1">
              <a:rPr lang="es-ES" smtClean="0"/>
              <a:t>31/10/2025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01256" y="18054"/>
            <a:ext cx="2133600" cy="273844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s-ES" dirty="0"/>
              <a:t>Página </a:t>
            </a:r>
            <a:fld id="{90BC2BA4-81C0-F544-BD72-C8CB9DA7C802}" type="slidenum">
              <a:rPr lang="es-ES" smtClean="0"/>
              <a:pPr/>
              <a:t>‹Nº›</a:t>
            </a:fld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055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2299790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1174649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04BB-03C1-49D0-8ADB-9D0B173DA53B}" type="datetime1">
              <a:rPr lang="es-ES" smtClean="0"/>
              <a:t>31/10/2025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98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8A97A-0D3F-47CA-A347-054B7FE5852E}" type="datetime1">
              <a:rPr lang="es-ES" smtClean="0"/>
              <a:t>31/10/2025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1D78991F-287D-0639-B3A9-25B72B76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303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C8795-6BD1-4429-BD75-9B388C62CDEE}" type="datetime1">
              <a:rPr lang="es-ES" smtClean="0"/>
              <a:t>31/10/2025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B2016B63-56CA-91C8-8D94-3736CC5D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454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A773-67CF-4861-89BB-2127413ABA21}" type="datetime1">
              <a:rPr lang="es-ES" smtClean="0"/>
              <a:t>31/10/2025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ED5BEC-1B11-157D-6B6B-7EC9DA38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88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ADB17-4F6B-498B-894E-4985DAFC70C1}" type="datetime1">
              <a:rPr lang="es-ES" smtClean="0"/>
              <a:t>31/10/2025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29E16D5E-FC12-627C-C32C-2D79CE9D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41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5D58-D3C6-4A98-BBED-E11D62DD4FB7}" type="datetime1">
              <a:rPr lang="es-ES" smtClean="0"/>
              <a:t>31/10/2025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27E0BABE-B629-4063-8894-C3E90357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397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8C981-BD54-46FE-919F-B5B29C8804F4}" type="datetime1">
              <a:rPr lang="es-ES" smtClean="0"/>
              <a:t>31/10/2025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8F88F565-A7F0-7C19-A7F7-953C9727E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998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311887"/>
            <a:ext cx="8229600" cy="751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30C37-EE32-4163-B0FE-3AD7FB21F6FB}" type="datetime1">
              <a:rPr lang="es-ES" smtClean="0"/>
              <a:t>31/10/2025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61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76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1469256" y="980685"/>
            <a:ext cx="6201268" cy="7275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>
                <a:solidFill>
                  <a:schemeClr val="accent1"/>
                </a:solidFill>
                <a:latin typeface="Ancizar Serif"/>
                <a:cs typeface="Ancizar Serif"/>
              </a:rPr>
              <a:t>Desarrollo de Prototipo para Terapia en Extremidades Superiores</a:t>
            </a:r>
          </a:p>
        </p:txBody>
      </p:sp>
      <p:cxnSp>
        <p:nvCxnSpPr>
          <p:cNvPr id="4" name="Conector recto 3"/>
          <p:cNvCxnSpPr/>
          <p:nvPr/>
        </p:nvCxnSpPr>
        <p:spPr>
          <a:xfrm>
            <a:off x="1678804" y="2533120"/>
            <a:ext cx="5810117" cy="0"/>
          </a:xfrm>
          <a:prstGeom prst="line">
            <a:avLst/>
          </a:prstGeom>
          <a:ln w="127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ítulo 1"/>
          <p:cNvSpPr txBox="1">
            <a:spLocks/>
          </p:cNvSpPr>
          <p:nvPr/>
        </p:nvSpPr>
        <p:spPr>
          <a:xfrm>
            <a:off x="1471366" y="2956042"/>
            <a:ext cx="6201268" cy="7275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chemeClr val="accent1"/>
                </a:solidFill>
                <a:latin typeface="Ancizar Serif"/>
                <a:cs typeface="Ancizar Serif"/>
              </a:rPr>
              <a:t>Facultad de minas – ingeniería de control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185DE8-C48F-FD75-EF42-14FD2D299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17F35D-7E64-37AA-9A8E-9F14053C0C18}"/>
              </a:ext>
            </a:extLst>
          </p:cNvPr>
          <p:cNvSpPr txBox="1">
            <a:spLocks/>
          </p:cNvSpPr>
          <p:nvPr/>
        </p:nvSpPr>
        <p:spPr>
          <a:xfrm>
            <a:off x="1623766" y="2397058"/>
            <a:ext cx="6201268" cy="7275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/>
                </a:solidFill>
                <a:latin typeface="Ancizar Serif"/>
                <a:cs typeface="Ancizar Serif"/>
              </a:rPr>
              <a:t>Propuesta de proyecto </a:t>
            </a:r>
          </a:p>
        </p:txBody>
      </p:sp>
    </p:spTree>
    <p:extLst>
      <p:ext uri="{BB962C8B-B14F-4D97-AF65-F5344CB8AC3E}">
        <p14:creationId xmlns:p14="http://schemas.microsoft.com/office/powerpoint/2010/main" val="22044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Contenido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77376" y="783313"/>
            <a:ext cx="7877165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s-ES" sz="1400" spc="300" dirty="0">
              <a:solidFill>
                <a:schemeClr val="accent1"/>
              </a:solidFill>
              <a:latin typeface="Ancizar Sans" panose="020B0602040300000003" pitchFamily="34" charset="0"/>
              <a:cs typeface="Ancizar Serif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 </a:t>
            </a:r>
            <a:r>
              <a:rPr lang="es-E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de minas </a:t>
            </a:r>
            <a:endParaRPr lang="en-US" sz="900" i="1" dirty="0">
              <a:solidFill>
                <a:schemeClr val="bg2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medellin</a:t>
            </a:r>
            <a:endParaRPr lang="es-CO" sz="900" i="1" dirty="0">
              <a:solidFill>
                <a:schemeClr val="bg2"/>
              </a:solidFill>
              <a:latin typeface="Ancizar Sans" panose="020B0602040300000003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9516F2-735F-7E69-280C-802579BCBF47}"/>
              </a:ext>
            </a:extLst>
          </p:cNvPr>
          <p:cNvSpPr txBox="1"/>
          <p:nvPr/>
        </p:nvSpPr>
        <p:spPr>
          <a:xfrm>
            <a:off x="561600" y="1303200"/>
            <a:ext cx="8071200" cy="300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342900" indent="-342900">
              <a:lnSpc>
                <a:spcPct val="150000"/>
              </a:lnSpc>
              <a:buClr>
                <a:schemeClr val="accent5"/>
              </a:buClr>
              <a:buFont typeface="+mj-lt"/>
              <a:buAutoNum type="arabicPeriod"/>
            </a:pPr>
            <a:r>
              <a:rPr lang="es-CO" sz="1600" dirty="0"/>
              <a:t>Introducción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CO" sz="1600" dirty="0"/>
              <a:t>Objetivo del proyecto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CO" sz="1600" dirty="0"/>
              <a:t>Metodología de desarrollo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CO" sz="1600" dirty="0"/>
              <a:t>Características del prototipo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CO" sz="1600" dirty="0"/>
              <a:t>Resultados esperados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CO" sz="1600" dirty="0"/>
              <a:t>Impacto y aplicabilidad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CO" sz="1600" dirty="0"/>
              <a:t>Conclusiones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CO" sz="1600" dirty="0"/>
              <a:t>Referencias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855C34E-49A4-E9E8-72CE-F1DF8217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3</a:t>
            </a:fld>
            <a:endParaRPr lang="es-ES"/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2443E57A-77E7-294A-71B8-547E50B149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75"/>
          <a:stretch>
            <a:fillRect/>
          </a:stretch>
        </p:blipFill>
        <p:spPr>
          <a:xfrm>
            <a:off x="3521516" y="965031"/>
            <a:ext cx="5239252" cy="29824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1E78984-085B-B168-EE89-D3AE2243B07B}"/>
              </a:ext>
            </a:extLst>
          </p:cNvPr>
          <p:cNvSpPr txBox="1"/>
          <p:nvPr/>
        </p:nvSpPr>
        <p:spPr>
          <a:xfrm>
            <a:off x="3654314" y="3608106"/>
            <a:ext cx="523925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b="1" dirty="0"/>
              <a:t>Figura 1</a:t>
            </a:r>
            <a:br>
              <a:rPr lang="es-ES" sz="900" dirty="0"/>
            </a:br>
            <a:r>
              <a:rPr lang="es-ES" sz="900" dirty="0"/>
              <a:t>Interacción entre una mano humana y una mano robótica.</a:t>
            </a:r>
          </a:p>
          <a:p>
            <a:r>
              <a:rPr lang="es-ES" sz="900" i="1" dirty="0"/>
              <a:t>Nota.</a:t>
            </a:r>
            <a:r>
              <a:rPr lang="es-ES" sz="900" dirty="0"/>
              <a:t> Imagen tomada de </a:t>
            </a:r>
            <a:r>
              <a:rPr lang="es-ES" sz="900" dirty="0" err="1"/>
              <a:t>Vectorpocket</a:t>
            </a:r>
            <a:r>
              <a:rPr lang="es-ES" sz="900" dirty="0"/>
              <a:t> (s.f.), </a:t>
            </a:r>
            <a:r>
              <a:rPr lang="es-ES" sz="900" i="1" dirty="0"/>
              <a:t>Ilustración de una mano humana tocando una mano robótica</a:t>
            </a:r>
            <a:r>
              <a:rPr lang="es-ES" sz="900" dirty="0"/>
              <a:t> [Ilustración]. </a:t>
            </a:r>
            <a:r>
              <a:rPr lang="es-ES" sz="900" dirty="0" err="1"/>
              <a:t>Shutterstock</a:t>
            </a:r>
            <a:r>
              <a:rPr lang="es-ES" sz="900" dirty="0"/>
              <a:t>. https://www.shutterstock.com/es/image-vector/vector-illustration-depicting-human-robot-2284918883</a:t>
            </a:r>
            <a:br>
              <a:rPr lang="es-ES" sz="1000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34197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Introducción 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629603" y="1255830"/>
            <a:ext cx="3456269" cy="2434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000" spc="300" dirty="0">
                <a:latin typeface="Ancizar Sans" panose="020B0602040300000003" pitchFamily="34" charset="0"/>
                <a:cs typeface="Ancizar Serif"/>
              </a:rPr>
              <a:t>La rehabilitación de pacientes con limitaciones motoras requiere movimientos controlados y seguros, esto permite la mejora continua en la movilidad el desarrollo motriz del paciente 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 </a:t>
            </a:r>
            <a:r>
              <a:rPr lang="es-E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de minas </a:t>
            </a:r>
            <a:endParaRPr lang="en-US" sz="900" i="1" dirty="0">
              <a:solidFill>
                <a:schemeClr val="accent1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medellin</a:t>
            </a:r>
            <a:endParaRPr lang="es-CO" sz="900" i="1" dirty="0">
              <a:solidFill>
                <a:schemeClr val="accent1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B7B9ECD-82A0-7270-769D-FD4218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4</a:t>
            </a:fld>
            <a:endParaRPr lang="es-ES"/>
          </a:p>
        </p:txBody>
      </p:sp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205029DB-8655-A989-E638-1EAA9B991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38" r="21667"/>
          <a:stretch>
            <a:fillRect/>
          </a:stretch>
        </p:blipFill>
        <p:spPr>
          <a:xfrm>
            <a:off x="3877531" y="1069086"/>
            <a:ext cx="5019675" cy="300532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AB59F00-EA0D-49BB-604D-DD24B7B190B9}"/>
              </a:ext>
            </a:extLst>
          </p:cNvPr>
          <p:cNvSpPr txBox="1"/>
          <p:nvPr/>
        </p:nvSpPr>
        <p:spPr>
          <a:xfrm>
            <a:off x="3877531" y="3776061"/>
            <a:ext cx="5266469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/>
              <a:t>Figura 2</a:t>
            </a:r>
          </a:p>
          <a:p>
            <a:r>
              <a:rPr lang="es-ES" sz="900" dirty="0"/>
              <a:t>Representación de la espasticidad en la mano tras una lesión neurológica.  </a:t>
            </a:r>
          </a:p>
          <a:p>
            <a:r>
              <a:rPr lang="es-ES" sz="900" dirty="0"/>
              <a:t>*Nota.* Imagen tomada de E-</a:t>
            </a:r>
            <a:r>
              <a:rPr lang="es-ES" sz="900" dirty="0" err="1"/>
              <a:t>Neurocenter</a:t>
            </a:r>
            <a:r>
              <a:rPr lang="es-ES" sz="900" dirty="0"/>
              <a:t> (s.f.), *Entendiendo la espasticidad: el camino de la recuperación tras una lesión neurológica* [Ilustración]. E-</a:t>
            </a:r>
            <a:r>
              <a:rPr lang="es-ES" sz="900" dirty="0" err="1"/>
              <a:t>Neurocenter</a:t>
            </a:r>
            <a:r>
              <a:rPr lang="es-ES" sz="900" dirty="0"/>
              <a:t>. https://www.eneurocenter.com/entendiendo-la-espasticidad-el-camino-de-la-recuperacion-tras-una-lesion-neurologica/</a:t>
            </a:r>
          </a:p>
          <a:p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509322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721AA-FE05-8B85-01F0-BC6A3B604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9057643-A28F-6ED3-7169-153A39D6DEDB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Objetivo del proyecto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839D81C9-BDC4-138F-FA0B-3B2E57BC940F}"/>
              </a:ext>
            </a:extLst>
          </p:cNvPr>
          <p:cNvSpPr txBox="1">
            <a:spLocks/>
          </p:cNvSpPr>
          <p:nvPr/>
        </p:nvSpPr>
        <p:spPr>
          <a:xfrm>
            <a:off x="706721" y="1156772"/>
            <a:ext cx="3456269" cy="28839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800" spc="300" dirty="0">
                <a:latin typeface="Ancizar Sans" panose="020B0602040300000003" pitchFamily="34" charset="0"/>
                <a:cs typeface="Ancizar Serif"/>
              </a:rPr>
              <a:t>Diseñar, desarrollar y validar un prototipo para terapia en extremidades superiores mediante tecnologías CAD/CAM, actuadores eléctricos/neumáticos y control programable (Arduino o PLC).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ABDCCB0-4738-363A-54CE-96B5CE1A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B866DDD-A623-7354-8598-7C45B6B89E87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 </a:t>
            </a:r>
            <a:r>
              <a:rPr lang="es-E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de minas </a:t>
            </a:r>
            <a:endParaRPr lang="en-US" sz="900" i="1" dirty="0">
              <a:solidFill>
                <a:schemeClr val="accent1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medellin</a:t>
            </a:r>
            <a:endParaRPr lang="es-CO" sz="900" i="1" dirty="0">
              <a:solidFill>
                <a:schemeClr val="accent1"/>
              </a:solidFill>
              <a:latin typeface="Ancizar Sans" panose="020B0602040300000003" pitchFamily="34" charset="0"/>
            </a:endParaRPr>
          </a:p>
        </p:txBody>
      </p:sp>
      <p:pic>
        <p:nvPicPr>
          <p:cNvPr id="8" name="Imagen 7" descr="Diagrama, Dibujo de ingeniería&#10;&#10;El contenido generado por IA puede ser incorrecto.">
            <a:extLst>
              <a:ext uri="{FF2B5EF4-FFF2-40B4-BE49-F238E27FC236}">
                <a16:creationId xmlns:a16="http://schemas.microsoft.com/office/drawing/2014/main" id="{D592D392-0FD1-7488-9D4B-C7D966C18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990" y="875152"/>
            <a:ext cx="4576786" cy="228839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218F1D6-F5E9-92E3-22C8-38924EA5D73C}"/>
              </a:ext>
            </a:extLst>
          </p:cNvPr>
          <p:cNvSpPr txBox="1"/>
          <p:nvPr/>
        </p:nvSpPr>
        <p:spPr>
          <a:xfrm>
            <a:off x="4064817" y="3163545"/>
            <a:ext cx="526646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900" dirty="0"/>
              <a:t>Figura 3</a:t>
            </a:r>
          </a:p>
          <a:p>
            <a:r>
              <a:rPr lang="es-CO" sz="900" dirty="0"/>
              <a:t>Plano arquitectónico y herramientas de diseño técnico.</a:t>
            </a:r>
          </a:p>
          <a:p>
            <a:r>
              <a:rPr lang="es-CO" sz="900" i="1" dirty="0"/>
              <a:t>Nota. </a:t>
            </a:r>
            <a:r>
              <a:rPr lang="es-CO" sz="900" dirty="0"/>
              <a:t>Imagen tomada de </a:t>
            </a:r>
            <a:r>
              <a:rPr lang="es-CO" sz="900" dirty="0" err="1"/>
              <a:t>Concepto.de</a:t>
            </a:r>
            <a:r>
              <a:rPr lang="es-CO" sz="900" dirty="0"/>
              <a:t> (s.f.), Diseño [Fotografía]. </a:t>
            </a:r>
            <a:r>
              <a:rPr lang="es-CO" sz="900" dirty="0" err="1"/>
              <a:t>Concepto.de</a:t>
            </a:r>
            <a:r>
              <a:rPr lang="es-CO" sz="900" dirty="0"/>
              <a:t>. https://concepto.de/diseno/</a:t>
            </a:r>
          </a:p>
          <a:p>
            <a:endParaRPr lang="es-CO" sz="1050" dirty="0"/>
          </a:p>
        </p:txBody>
      </p:sp>
    </p:spTree>
    <p:extLst>
      <p:ext uri="{BB962C8B-B14F-4D97-AF65-F5344CB8AC3E}">
        <p14:creationId xmlns:p14="http://schemas.microsoft.com/office/powerpoint/2010/main" val="4093207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ADF01-A17E-A048-003D-5040ED90B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680CF48-B56D-A9CD-DC5A-5D8F27E84FB4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4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Beneficios directos 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73AE721-9F1B-6990-9992-00F4440370B9}"/>
              </a:ext>
            </a:extLst>
          </p:cNvPr>
          <p:cNvSpPr txBox="1">
            <a:spLocks/>
          </p:cNvSpPr>
          <p:nvPr/>
        </p:nvSpPr>
        <p:spPr>
          <a:xfrm>
            <a:off x="333256" y="1035586"/>
            <a:ext cx="3974339" cy="27776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Tx/>
              <a:buChar char="-"/>
            </a:pPr>
            <a:r>
              <a:rPr lang="es-ES" sz="2000" spc="300" dirty="0">
                <a:latin typeface="Ancizar Sans" panose="020B0602040300000003" pitchFamily="34" charset="0"/>
                <a:cs typeface="Ancizar Serif"/>
              </a:rPr>
              <a:t>Lesiones traumáticas o por sobrecarga </a:t>
            </a:r>
          </a:p>
          <a:p>
            <a:pPr marL="285750" indent="-285750" algn="l">
              <a:buFontTx/>
              <a:buChar char="-"/>
            </a:pPr>
            <a:r>
              <a:rPr lang="es-ES" sz="2000" spc="300" dirty="0">
                <a:latin typeface="Ancizar Sans" panose="020B0602040300000003" pitchFamily="34" charset="0"/>
                <a:cs typeface="Ancizar Serif"/>
              </a:rPr>
              <a:t>artritis</a:t>
            </a:r>
          </a:p>
          <a:p>
            <a:pPr marL="285750" indent="-285750" algn="l">
              <a:buFontTx/>
              <a:buChar char="-"/>
            </a:pPr>
            <a:r>
              <a:rPr lang="es-ES" sz="2000" spc="300" dirty="0">
                <a:latin typeface="Ancizar Sans" panose="020B0602040300000003" pitchFamily="34" charset="0"/>
                <a:cs typeface="Ancizar Serif"/>
              </a:rPr>
              <a:t>Quemaduras</a:t>
            </a:r>
          </a:p>
          <a:p>
            <a:pPr marL="285750" indent="-285750" algn="l">
              <a:buFontTx/>
              <a:buChar char="-"/>
            </a:pPr>
            <a:r>
              <a:rPr lang="es-ES" sz="2000" spc="300" dirty="0">
                <a:latin typeface="Ancizar Sans" panose="020B0602040300000003" pitchFamily="34" charset="0"/>
                <a:cs typeface="Ancizar Serif"/>
              </a:rPr>
              <a:t>Cirugías</a:t>
            </a:r>
          </a:p>
          <a:p>
            <a:pPr marL="285750" indent="-285750" algn="l">
              <a:buFontTx/>
              <a:buChar char="-"/>
            </a:pPr>
            <a:r>
              <a:rPr lang="es-ES" sz="2000" spc="300" dirty="0">
                <a:latin typeface="Ancizar Sans" panose="020B0602040300000003" pitchFamily="34" charset="0"/>
                <a:cs typeface="Ancizar Serif"/>
              </a:rPr>
              <a:t>Paralasis espástica</a:t>
            </a:r>
          </a:p>
          <a:p>
            <a:pPr marL="285750" indent="-285750" algn="l">
              <a:buFontTx/>
              <a:buChar char="-"/>
            </a:pPr>
            <a:endParaRPr lang="es-ES" sz="1400" spc="300" dirty="0">
              <a:solidFill>
                <a:schemeClr val="accent1"/>
              </a:solidFill>
              <a:latin typeface="Ancizar Sans" panose="020B0602040300000003" pitchFamily="34" charset="0"/>
              <a:cs typeface="Ancizar Serif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A6B27F3-D168-76CE-B9F3-A5774466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6FC6886-6C05-B359-AB6F-6415FE97BAC3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 </a:t>
            </a:r>
            <a:r>
              <a:rPr lang="es-E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de minas </a:t>
            </a:r>
            <a:endParaRPr lang="en-US" sz="900" i="1" dirty="0">
              <a:solidFill>
                <a:schemeClr val="accent1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medellin</a:t>
            </a:r>
            <a:endParaRPr lang="es-CO" sz="900" i="1" dirty="0">
              <a:solidFill>
                <a:schemeClr val="accent1"/>
              </a:solidFill>
              <a:latin typeface="Ancizar Sans" panose="020B06020403000000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216F132-2EF4-EA22-665D-67B489CB4597}"/>
              </a:ext>
            </a:extLst>
          </p:cNvPr>
          <p:cNvSpPr txBox="1"/>
          <p:nvPr/>
        </p:nvSpPr>
        <p:spPr>
          <a:xfrm>
            <a:off x="4461426" y="3600965"/>
            <a:ext cx="500206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/>
              <a:t>Figura 4</a:t>
            </a:r>
          </a:p>
          <a:p>
            <a:r>
              <a:rPr lang="es-ES" sz="900" dirty="0"/>
              <a:t>Terapia manual aplicada en la palma de la mano.</a:t>
            </a:r>
          </a:p>
          <a:p>
            <a:r>
              <a:rPr lang="es-ES" sz="900" dirty="0"/>
              <a:t>Nota. Imagen tomada de AETEMA (s.f.), Asociación Española de Terapias Manuales y Alternativas [Fotografía]. AETEMA. https://aetema.org/</a:t>
            </a:r>
          </a:p>
          <a:p>
            <a:endParaRPr lang="es-CO" sz="1100" dirty="0"/>
          </a:p>
        </p:txBody>
      </p:sp>
      <p:pic>
        <p:nvPicPr>
          <p:cNvPr id="12" name="Imagen 11" descr="Mano de una persona&#10;&#10;El contenido generado por IA puede ser incorrecto.">
            <a:extLst>
              <a:ext uri="{FF2B5EF4-FFF2-40B4-BE49-F238E27FC236}">
                <a16:creationId xmlns:a16="http://schemas.microsoft.com/office/drawing/2014/main" id="{2B73B935-7EF4-771D-F587-72693DE3B5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24" b="12612"/>
          <a:stretch>
            <a:fillRect/>
          </a:stretch>
        </p:blipFill>
        <p:spPr>
          <a:xfrm>
            <a:off x="4572000" y="440675"/>
            <a:ext cx="2584833" cy="315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78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5FC1E-7CE4-BDBE-161D-613F4BE02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5 habilidades que debe tener el investigador de mercados">
            <a:extLst>
              <a:ext uri="{FF2B5EF4-FFF2-40B4-BE49-F238E27FC236}">
                <a16:creationId xmlns:a16="http://schemas.microsoft.com/office/drawing/2014/main" id="{8C63827B-2E45-E112-9220-95534FB17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737" y="302401"/>
            <a:ext cx="3956662" cy="320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D64585B3-592F-36AD-0640-AC4887075316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Características del proyecto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E97AB74-288B-7605-4C20-62A1E9D61FCD}"/>
              </a:ext>
            </a:extLst>
          </p:cNvPr>
          <p:cNvSpPr txBox="1">
            <a:spLocks/>
          </p:cNvSpPr>
          <p:nvPr/>
        </p:nvSpPr>
        <p:spPr>
          <a:xfrm>
            <a:off x="623601" y="1597805"/>
            <a:ext cx="3854756" cy="20660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AutoNum type="arabicPeriod"/>
            </a:pPr>
            <a:r>
              <a:rPr lang="es-ES" sz="1600" spc="300" dirty="0">
                <a:latin typeface="Ancizar Sans" panose="020B0602040300000003" pitchFamily="34" charset="0"/>
                <a:cs typeface="Ancizar Serif"/>
              </a:rPr>
              <a:t>Diseño conceptual</a:t>
            </a:r>
            <a:r>
              <a:rPr lang="es-ES" sz="1600" spc="300" dirty="0">
                <a:solidFill>
                  <a:schemeClr val="accent1"/>
                </a:solidFill>
                <a:latin typeface="Ancizar Sans" panose="020B0602040300000003" pitchFamily="34" charset="0"/>
                <a:cs typeface="Ancizar Serif"/>
              </a:rPr>
              <a:t>.</a:t>
            </a:r>
          </a:p>
          <a:p>
            <a:pPr marL="342900" indent="-342900" algn="l">
              <a:buAutoNum type="arabicPeriod"/>
            </a:pPr>
            <a:endParaRPr lang="es-ES" sz="1600" spc="300" dirty="0">
              <a:solidFill>
                <a:schemeClr val="accent1"/>
              </a:solidFill>
              <a:latin typeface="Ancizar Sans" panose="020B0602040300000003" pitchFamily="34" charset="0"/>
              <a:cs typeface="Ancizar Serif"/>
            </a:endParaRPr>
          </a:p>
          <a:p>
            <a:pPr algn="l"/>
            <a:r>
              <a:rPr lang="es-ES" sz="1600" spc="300" dirty="0">
                <a:solidFill>
                  <a:schemeClr val="accent1"/>
                </a:solidFill>
                <a:latin typeface="Ancizar Sans" panose="020B0602040300000003" pitchFamily="34" charset="0"/>
                <a:cs typeface="Ancizar Serif"/>
              </a:rPr>
              <a:t>2. </a:t>
            </a:r>
            <a:r>
              <a:rPr lang="es-ES" sz="1600" spc="300" dirty="0">
                <a:latin typeface="Ancizar Sans" panose="020B0602040300000003" pitchFamily="34" charset="0"/>
                <a:cs typeface="Ancizar Serif"/>
              </a:rPr>
              <a:t>Modelado CAD en SolidWorks o Inventor.</a:t>
            </a:r>
          </a:p>
          <a:p>
            <a:pPr algn="l"/>
            <a:endParaRPr lang="es-ES" sz="1600" spc="300" dirty="0">
              <a:solidFill>
                <a:schemeClr val="accent1"/>
              </a:solidFill>
              <a:latin typeface="Ancizar Sans" panose="020B0602040300000003" pitchFamily="34" charset="0"/>
              <a:cs typeface="Ancizar Serif"/>
            </a:endParaRPr>
          </a:p>
          <a:p>
            <a:pPr algn="l"/>
            <a:r>
              <a:rPr lang="es-ES" sz="1600" spc="300" dirty="0">
                <a:solidFill>
                  <a:schemeClr val="accent1"/>
                </a:solidFill>
                <a:latin typeface="Ancizar Sans" panose="020B0602040300000003" pitchFamily="34" charset="0"/>
                <a:cs typeface="Ancizar Serif"/>
              </a:rPr>
              <a:t>3</a:t>
            </a:r>
            <a:r>
              <a:rPr lang="es-ES" sz="1600" spc="300" dirty="0">
                <a:latin typeface="Ancizar Sans" panose="020B0602040300000003" pitchFamily="34" charset="0"/>
                <a:cs typeface="Ancizar Serif"/>
              </a:rPr>
              <a:t>. Simulación de esfuerzos y desplazamientos.</a:t>
            </a:r>
          </a:p>
          <a:p>
            <a:pPr algn="l"/>
            <a:endParaRPr lang="es-ES" sz="1600" spc="300" dirty="0">
              <a:latin typeface="Ancizar Sans" panose="020B0602040300000003" pitchFamily="34" charset="0"/>
              <a:cs typeface="Ancizar Serif"/>
            </a:endParaRPr>
          </a:p>
          <a:p>
            <a:pPr algn="l"/>
            <a:r>
              <a:rPr lang="es-ES" sz="1600" spc="300" dirty="0">
                <a:solidFill>
                  <a:schemeClr val="accent1"/>
                </a:solidFill>
                <a:latin typeface="Ancizar Sans" panose="020B0602040300000003" pitchFamily="34" charset="0"/>
                <a:cs typeface="Ancizar Serif"/>
              </a:rPr>
              <a:t>4. </a:t>
            </a:r>
            <a:r>
              <a:rPr lang="es-ES" sz="1600" spc="300" dirty="0">
                <a:latin typeface="Ancizar Sans" panose="020B0602040300000003" pitchFamily="34" charset="0"/>
                <a:cs typeface="Ancizar Serif"/>
              </a:rPr>
              <a:t>Fabricación mediante impresión 3D o CNC.</a:t>
            </a:r>
          </a:p>
          <a:p>
            <a:pPr algn="l"/>
            <a:endParaRPr lang="es-ES" sz="1600" spc="300" dirty="0">
              <a:latin typeface="Ancizar Sans" panose="020B0602040300000003" pitchFamily="34" charset="0"/>
              <a:cs typeface="Ancizar Serif"/>
            </a:endParaRPr>
          </a:p>
          <a:p>
            <a:pPr algn="l"/>
            <a:r>
              <a:rPr lang="es-ES" sz="1600" spc="300" dirty="0">
                <a:solidFill>
                  <a:schemeClr val="accent1"/>
                </a:solidFill>
                <a:latin typeface="Ancizar Sans" panose="020B0602040300000003" pitchFamily="34" charset="0"/>
                <a:cs typeface="Ancizar Serif"/>
              </a:rPr>
              <a:t>5. </a:t>
            </a:r>
            <a:r>
              <a:rPr lang="es-ES" sz="1600" spc="300" dirty="0">
                <a:latin typeface="Ancizar Sans" panose="020B0602040300000003" pitchFamily="34" charset="0"/>
                <a:cs typeface="Ancizar Serif"/>
              </a:rPr>
              <a:t>Control mediante controlador comercial.</a:t>
            </a:r>
          </a:p>
          <a:p>
            <a:pPr algn="l"/>
            <a:endParaRPr lang="es-ES" sz="1600" spc="300" dirty="0">
              <a:latin typeface="Ancizar Sans" panose="020B0602040300000003" pitchFamily="34" charset="0"/>
              <a:cs typeface="Ancizar Serif"/>
            </a:endParaRPr>
          </a:p>
          <a:p>
            <a:pPr algn="l"/>
            <a:r>
              <a:rPr lang="es-ES" sz="1600" spc="300" dirty="0">
                <a:solidFill>
                  <a:schemeClr val="accent1"/>
                </a:solidFill>
                <a:latin typeface="Ancizar Sans" panose="020B0602040300000003" pitchFamily="34" charset="0"/>
                <a:cs typeface="Ancizar Serif"/>
              </a:rPr>
              <a:t>6. </a:t>
            </a:r>
            <a:r>
              <a:rPr lang="es-ES" sz="1600" spc="300" dirty="0">
                <a:latin typeface="Ancizar Sans" panose="020B0602040300000003" pitchFamily="34" charset="0"/>
                <a:cs typeface="Ancizar Serif"/>
              </a:rPr>
              <a:t>Pruebas funcionales.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F49F2F6-D73A-91D0-4592-F8FA5C9B1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794C09F-A64D-40F7-3D4D-3B4DAF3E5FE9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 </a:t>
            </a:r>
            <a:r>
              <a:rPr lang="es-E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de minas </a:t>
            </a:r>
            <a:endParaRPr lang="en-US" sz="900" i="1" dirty="0">
              <a:solidFill>
                <a:schemeClr val="accent1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medellin</a:t>
            </a:r>
            <a:endParaRPr lang="es-CO" sz="900" i="1" dirty="0">
              <a:solidFill>
                <a:schemeClr val="accent1"/>
              </a:solidFill>
              <a:latin typeface="Ancizar Sans" panose="020B06020403000000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24B0A8C-58B5-CD18-CB77-3FD36C2CE9C1}"/>
              </a:ext>
            </a:extLst>
          </p:cNvPr>
          <p:cNvSpPr txBox="1"/>
          <p:nvPr/>
        </p:nvSpPr>
        <p:spPr>
          <a:xfrm>
            <a:off x="4478357" y="3499891"/>
            <a:ext cx="456649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900" dirty="0"/>
              <a:t>Figura 5</a:t>
            </a:r>
          </a:p>
          <a:p>
            <a:r>
              <a:rPr lang="es-CO" sz="900" dirty="0"/>
              <a:t>Pensamiento estratégico y análisis de ideas en investigación de mercados.</a:t>
            </a:r>
          </a:p>
          <a:p>
            <a:r>
              <a:rPr lang="es-CO" sz="900" dirty="0"/>
              <a:t>Nota. Imagen tomada de </a:t>
            </a:r>
            <a:r>
              <a:rPr lang="es-CO" sz="900" dirty="0" err="1"/>
              <a:t>Webnexo</a:t>
            </a:r>
            <a:r>
              <a:rPr lang="es-CO" sz="900" dirty="0"/>
              <a:t> (s.f.), 5 habilidades que debe tener el investigador de mercados [Fotografía]. </a:t>
            </a:r>
            <a:r>
              <a:rPr lang="es-CO" sz="900" dirty="0" err="1"/>
              <a:t>Webnexo</a:t>
            </a:r>
            <a:r>
              <a:rPr lang="es-CO" sz="900" dirty="0"/>
              <a:t>. https://www.webnexo.es/5-habilidades-que-debe-tener-el-investigador-de-mercados/</a:t>
            </a:r>
          </a:p>
        </p:txBody>
      </p:sp>
    </p:spTree>
    <p:extLst>
      <p:ext uri="{BB962C8B-B14F-4D97-AF65-F5344CB8AC3E}">
        <p14:creationId xmlns:p14="http://schemas.microsoft.com/office/powerpoint/2010/main" val="2378265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A6962-470B-338A-E649-59771DF3A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8C88AC8-745F-F8CF-ABF3-05E6FC12B821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Impacto y aplicabilidad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CC49648-49F7-8731-FEE7-D52FA071D134}"/>
              </a:ext>
            </a:extLst>
          </p:cNvPr>
          <p:cNvSpPr txBox="1">
            <a:spLocks/>
          </p:cNvSpPr>
          <p:nvPr/>
        </p:nvSpPr>
        <p:spPr>
          <a:xfrm>
            <a:off x="477375" y="2120693"/>
            <a:ext cx="3720051" cy="20326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Tx/>
              <a:buChar char="-"/>
            </a:pPr>
            <a:r>
              <a:rPr lang="es-ES" sz="2000" spc="300" dirty="0">
                <a:latin typeface="Ancizar Sans" panose="020B0602040300000003" pitchFamily="34" charset="0"/>
                <a:cs typeface="Ancizar Serif"/>
              </a:rPr>
              <a:t>Sector biomédico: apoyo en fisioterapia.</a:t>
            </a:r>
          </a:p>
          <a:p>
            <a:pPr marL="342900" indent="-342900" algn="l">
              <a:buFontTx/>
              <a:buChar char="-"/>
            </a:pPr>
            <a:endParaRPr lang="es-ES" sz="2000" spc="300" dirty="0">
              <a:latin typeface="Ancizar Sans" panose="020B0602040300000003" pitchFamily="34" charset="0"/>
              <a:cs typeface="Ancizar Serif"/>
            </a:endParaRPr>
          </a:p>
          <a:p>
            <a:pPr marL="342900" indent="-342900" algn="l">
              <a:buFontTx/>
              <a:buChar char="-"/>
            </a:pPr>
            <a:r>
              <a:rPr lang="es-ES" sz="2000" spc="300" dirty="0">
                <a:latin typeface="Ancizar Sans" panose="020B0602040300000003" pitchFamily="34" charset="0"/>
                <a:cs typeface="Ancizar Serif"/>
              </a:rPr>
              <a:t>Sector educativo: formación en mecatrónica aplicada.</a:t>
            </a:r>
          </a:p>
          <a:p>
            <a:pPr algn="l"/>
            <a:endParaRPr lang="es-ES" sz="2000" spc="300" dirty="0">
              <a:latin typeface="Ancizar Sans" panose="020B0602040300000003" pitchFamily="34" charset="0"/>
              <a:cs typeface="Ancizar Serif"/>
            </a:endParaRPr>
          </a:p>
          <a:p>
            <a:pPr marL="342900" indent="-342900" algn="l">
              <a:buFontTx/>
              <a:buChar char="-"/>
            </a:pPr>
            <a:r>
              <a:rPr lang="es-ES" sz="2000" spc="300" dirty="0">
                <a:latin typeface="Ancizar Sans" panose="020B0602040300000003" pitchFamily="34" charset="0"/>
                <a:cs typeface="Ancizar Serif"/>
              </a:rPr>
              <a:t>Sector industrial: tecnología accesible y adaptable.</a:t>
            </a:r>
          </a:p>
          <a:p>
            <a:pPr marL="342900" indent="-342900" algn="l">
              <a:buFontTx/>
              <a:buChar char="-"/>
            </a:pPr>
            <a:endParaRPr lang="es-ES" sz="2000" spc="300" dirty="0">
              <a:solidFill>
                <a:schemeClr val="accent1"/>
              </a:solidFill>
              <a:latin typeface="Ancizar Sans" panose="020B0602040300000003" pitchFamily="34" charset="0"/>
              <a:cs typeface="Ancizar Serif"/>
            </a:endParaRPr>
          </a:p>
          <a:p>
            <a:pPr marL="342900" indent="-342900" algn="l">
              <a:buFontTx/>
              <a:buChar char="-"/>
            </a:pPr>
            <a:endParaRPr lang="es-ES" sz="2000" spc="300" dirty="0">
              <a:solidFill>
                <a:schemeClr val="accent1"/>
              </a:solidFill>
              <a:latin typeface="Ancizar Sans" panose="020B0602040300000003" pitchFamily="34" charset="0"/>
              <a:cs typeface="Ancizar Serif"/>
            </a:endParaRPr>
          </a:p>
          <a:p>
            <a:pPr algn="l"/>
            <a:r>
              <a:rPr lang="es-ES" sz="2000" spc="300" dirty="0">
                <a:solidFill>
                  <a:schemeClr val="accent1"/>
                </a:solidFill>
                <a:latin typeface="Ancizar Sans" panose="020B0602040300000003" pitchFamily="34" charset="0"/>
                <a:cs typeface="Ancizar Serif"/>
              </a:rPr>
              <a:t>-</a:t>
            </a:r>
            <a:endParaRPr lang="es-ES" sz="1400" spc="300" dirty="0">
              <a:solidFill>
                <a:schemeClr val="accent1"/>
              </a:solidFill>
              <a:latin typeface="Ancizar Sans" panose="020B0602040300000003" pitchFamily="34" charset="0"/>
              <a:cs typeface="Ancizar Serif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B64CA61-C7F5-BA37-C814-FBAA6402E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9B406B8-9C94-84A6-A8C4-EC6E795ABC8E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 </a:t>
            </a:r>
            <a:r>
              <a:rPr lang="es-E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de minas </a:t>
            </a:r>
            <a:endParaRPr lang="en-US" sz="900" i="1" dirty="0">
              <a:solidFill>
                <a:schemeClr val="accent1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1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 err="1">
                <a:solidFill>
                  <a:schemeClr val="accent1"/>
                </a:solidFill>
                <a:latin typeface="Ancizar Sans" panose="020B0602040300000003" pitchFamily="34" charset="0"/>
              </a:rPr>
              <a:t>medellin</a:t>
            </a:r>
            <a:endParaRPr lang="es-CO" sz="900" i="1" dirty="0">
              <a:solidFill>
                <a:schemeClr val="accent1"/>
              </a:solidFill>
              <a:latin typeface="Ancizar Sans" panose="020B0602040300000003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31246DD-93D6-3C1B-B9C7-496951A66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7"/>
          <a:stretch>
            <a:fillRect/>
          </a:stretch>
        </p:blipFill>
        <p:spPr bwMode="auto">
          <a:xfrm>
            <a:off x="5157513" y="512222"/>
            <a:ext cx="2587345" cy="352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6007EC0-139A-B124-4CF4-9019877C86C8}"/>
              </a:ext>
            </a:extLst>
          </p:cNvPr>
          <p:cNvSpPr txBox="1"/>
          <p:nvPr/>
        </p:nvSpPr>
        <p:spPr>
          <a:xfrm>
            <a:off x="5060374" y="4037537"/>
            <a:ext cx="36062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900" dirty="0"/>
              <a:t>Figura 6</a:t>
            </a:r>
          </a:p>
          <a:p>
            <a:r>
              <a:rPr lang="es-CO" sz="900" dirty="0"/>
              <a:t>Guante robótico diseñado para la rehabilitación de la mano.</a:t>
            </a:r>
          </a:p>
          <a:p>
            <a:r>
              <a:rPr lang="es-CO" sz="900" dirty="0"/>
              <a:t>Nota. Imagen tomada de Guía Disc (s.f.), Nuevo guante robótico para la rehabilitación de la mano [Fotografía]. Guía Disc. https://www.guiadisc.com/nuevo-guante-robotico-rehabilitacion-mano.html</a:t>
            </a:r>
          </a:p>
        </p:txBody>
      </p:sp>
    </p:spTree>
    <p:extLst>
      <p:ext uri="{BB962C8B-B14F-4D97-AF65-F5344CB8AC3E}">
        <p14:creationId xmlns:p14="http://schemas.microsoft.com/office/powerpoint/2010/main" val="1277471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1"/>
                </a:solidFill>
                <a:latin typeface="Ancizar Serif Extrabold" panose="020A0902070300000003" pitchFamily="18" charset="0"/>
                <a:cs typeface="Ancizar Sans Extrabold"/>
              </a:rPr>
              <a:t>Referencias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77376" y="783313"/>
            <a:ext cx="7877165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1"/>
                </a:solidFill>
                <a:latin typeface="Ancizar Sans" panose="020B0602040300000003" pitchFamily="34" charset="0"/>
                <a:cs typeface="Ancizar Serif"/>
              </a:rPr>
              <a:t>SUBTÍTULO ANCÍZAR SANS </a:t>
            </a:r>
            <a:r>
              <a:rPr lang="mr-IN" sz="1400" spc="300" dirty="0">
                <a:solidFill>
                  <a:schemeClr val="accent1"/>
                </a:solidFill>
                <a:latin typeface="Ancizar Sans" panose="020B0602040300000003" pitchFamily="34" charset="0"/>
                <a:cs typeface="Ancizar Serif"/>
              </a:rPr>
              <a:t>–</a:t>
            </a:r>
            <a:r>
              <a:rPr lang="es-ES" sz="1400" spc="300" dirty="0">
                <a:solidFill>
                  <a:schemeClr val="accent1"/>
                </a:solidFill>
                <a:latin typeface="Ancizar Sans" panose="020B0602040300000003" pitchFamily="34" charset="0"/>
                <a:cs typeface="Ancizar Serif"/>
              </a:rPr>
              <a:t> ESPACIADO INTERLETRA SEPARADO </a:t>
            </a:r>
            <a:r>
              <a:rPr lang="mr-IN" sz="1400" spc="300" dirty="0">
                <a:solidFill>
                  <a:schemeClr val="accent1"/>
                </a:solidFill>
                <a:latin typeface="Ancizar Sans" panose="020B0602040300000003" pitchFamily="34" charset="0"/>
                <a:cs typeface="Ancizar Serif"/>
              </a:rPr>
              <a:t>–</a:t>
            </a:r>
            <a:r>
              <a:rPr lang="es-ES" sz="1400" spc="300" dirty="0">
                <a:solidFill>
                  <a:schemeClr val="accent1"/>
                </a:solidFill>
                <a:latin typeface="Ancizar Sans" panose="020B0602040300000003" pitchFamily="34" charset="0"/>
                <a:cs typeface="Ancizar Serif"/>
              </a:rPr>
              <a:t> 14pt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9516F2-735F-7E69-280C-802579BCBF47}"/>
              </a:ext>
            </a:extLst>
          </p:cNvPr>
          <p:cNvSpPr txBox="1"/>
          <p:nvPr/>
        </p:nvSpPr>
        <p:spPr>
          <a:xfrm>
            <a:off x="561600" y="1303200"/>
            <a:ext cx="8071200" cy="342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342900" indent="-342900">
              <a:lnSpc>
                <a:spcPct val="150000"/>
              </a:lnSpc>
              <a:buClr>
                <a:schemeClr val="accent5"/>
              </a:buClr>
              <a:buFont typeface="+mj-lt"/>
              <a:buAutoNum type="arabicPeriod"/>
            </a:pPr>
            <a:r>
              <a:rPr lang="es-ES" sz="1200" dirty="0" err="1"/>
              <a:t>Vectorpocket</a:t>
            </a:r>
            <a:r>
              <a:rPr lang="es-ES" sz="1200" dirty="0"/>
              <a:t>. (s.f.). </a:t>
            </a:r>
            <a:r>
              <a:rPr lang="es-ES" sz="1200" i="1" dirty="0"/>
              <a:t>Ilustración de una mano humana tocando una mano robótica</a:t>
            </a:r>
            <a:r>
              <a:rPr lang="es-ES" sz="1200" dirty="0"/>
              <a:t> [Ilustración]. </a:t>
            </a:r>
            <a:r>
              <a:rPr lang="es-ES" sz="1200" dirty="0" err="1"/>
              <a:t>Shutterstock</a:t>
            </a:r>
            <a:r>
              <a:rPr lang="es-ES" sz="1200" dirty="0"/>
              <a:t>. https://www.shutterstock.com/es/image-vector/vector-illustration-depicting-human-robot-2284918883</a:t>
            </a:r>
          </a:p>
          <a:p>
            <a:pPr marL="342900" indent="-342900">
              <a:lnSpc>
                <a:spcPct val="150000"/>
              </a:lnSpc>
              <a:buClr>
                <a:schemeClr val="accent5"/>
              </a:buClr>
              <a:buFont typeface="+mj-lt"/>
              <a:buAutoNum type="arabicPeriod"/>
            </a:pPr>
            <a:r>
              <a:rPr lang="es-ES" sz="1200" dirty="0"/>
              <a:t>E-</a:t>
            </a:r>
            <a:r>
              <a:rPr lang="es-ES" sz="1200" dirty="0" err="1"/>
              <a:t>Neurocenter</a:t>
            </a:r>
            <a:r>
              <a:rPr lang="es-ES" sz="1200" dirty="0"/>
              <a:t>. (s.f.). </a:t>
            </a:r>
            <a:r>
              <a:rPr lang="es-ES" sz="1200" i="1" dirty="0"/>
              <a:t>Entendiendo la espasticidad: el camino de la recuperación tras una lesión neurológica</a:t>
            </a:r>
            <a:r>
              <a:rPr lang="es-ES" sz="1200" dirty="0"/>
              <a:t> [Ilustración]. E-</a:t>
            </a:r>
            <a:r>
              <a:rPr lang="es-ES" sz="1200" dirty="0" err="1"/>
              <a:t>Neurocenter</a:t>
            </a:r>
            <a:r>
              <a:rPr lang="es-ES" sz="1200" dirty="0"/>
              <a:t>. https://www.eneurocenter.com/entendiendo-la-espasticidad-el-camino-de-la-recuperacion-tras-una-lesion-neurologica/</a:t>
            </a:r>
          </a:p>
          <a:p>
            <a:pPr marL="342900" indent="-342900">
              <a:lnSpc>
                <a:spcPct val="150000"/>
              </a:lnSpc>
              <a:buClr>
                <a:schemeClr val="accent5"/>
              </a:buClr>
              <a:buFont typeface="+mj-lt"/>
              <a:buAutoNum type="arabicPeriod"/>
            </a:pPr>
            <a:r>
              <a:rPr lang="es-ES" sz="1200" dirty="0" err="1"/>
              <a:t>Concepto.de</a:t>
            </a:r>
            <a:r>
              <a:rPr lang="es-ES" sz="1200" dirty="0"/>
              <a:t>. (s.f.). Diseño [Fotografía]. </a:t>
            </a:r>
            <a:r>
              <a:rPr lang="es-ES" sz="1200" dirty="0" err="1"/>
              <a:t>Concepto.de</a:t>
            </a:r>
            <a:r>
              <a:rPr lang="es-ES" sz="1200" dirty="0"/>
              <a:t>. https://concepto.de/diseno/</a:t>
            </a:r>
          </a:p>
          <a:p>
            <a:pPr marL="342900" indent="-342900">
              <a:lnSpc>
                <a:spcPct val="150000"/>
              </a:lnSpc>
              <a:buClr>
                <a:schemeClr val="accent5"/>
              </a:buClr>
              <a:buFont typeface="+mj-lt"/>
              <a:buAutoNum type="arabicPeriod"/>
            </a:pPr>
            <a:r>
              <a:rPr lang="es-ES" sz="1200" dirty="0"/>
              <a:t>AETEMA. (s.f.). Asociación Española de Terapias Manuales y Alternativas [Fotografía]. AETEMA. https://aetema.org/</a:t>
            </a:r>
          </a:p>
          <a:p>
            <a:pPr marL="342900" indent="-342900">
              <a:lnSpc>
                <a:spcPct val="150000"/>
              </a:lnSpc>
              <a:buClr>
                <a:schemeClr val="accent5"/>
              </a:buClr>
              <a:buFont typeface="+mj-lt"/>
              <a:buAutoNum type="arabicPeriod"/>
            </a:pPr>
            <a:r>
              <a:rPr lang="es-ES" sz="1200" dirty="0" err="1"/>
              <a:t>Webnexo</a:t>
            </a:r>
            <a:r>
              <a:rPr lang="es-ES" sz="1200" dirty="0"/>
              <a:t>. (s.f.). 5 habilidades que debe tener el investigador de mercados [Fotografía]. </a:t>
            </a:r>
            <a:r>
              <a:rPr lang="es-ES" sz="1200" dirty="0" err="1"/>
              <a:t>Webnexo</a:t>
            </a:r>
            <a:r>
              <a:rPr lang="es-ES" sz="1200" dirty="0"/>
              <a:t>. https://www.webnexo.es/5-habilidades-que-debe-tener-el-investigador-de-mercados/</a:t>
            </a:r>
          </a:p>
          <a:p>
            <a:pPr marL="342900" indent="-342900">
              <a:lnSpc>
                <a:spcPct val="150000"/>
              </a:lnSpc>
              <a:buClr>
                <a:schemeClr val="accent5"/>
              </a:buClr>
              <a:buFont typeface="+mj-lt"/>
              <a:buAutoNum type="arabicPeriod"/>
            </a:pPr>
            <a:r>
              <a:rPr lang="es-ES" sz="1200" dirty="0"/>
              <a:t>Guía Disc. (s.f.). Nuevo guante robótico para la rehabilitación de la mano [Fotografía]. Guía Disc. https://www.guiadisc.com/nuevo-guante-robotico-rehabilitacion-mano.html</a:t>
            </a:r>
          </a:p>
          <a:p>
            <a:pPr marL="342900" indent="-342900">
              <a:lnSpc>
                <a:spcPct val="150000"/>
              </a:lnSpc>
              <a:buClr>
                <a:schemeClr val="accent5"/>
              </a:buClr>
              <a:buFont typeface="+mj-lt"/>
              <a:buAutoNum type="arabicPeriod"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794259-7C99-3FAB-188D-D34970788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EDB123-4D86-8DD1-D82D-00B63F200D5A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 </a:t>
            </a:r>
            <a:r>
              <a:rPr lang="es-E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de minas </a:t>
            </a:r>
            <a:endParaRPr lang="en-US" sz="900" i="1" dirty="0">
              <a:solidFill>
                <a:schemeClr val="bg2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medellin</a:t>
            </a:r>
            <a:endParaRPr lang="es-CO" sz="900" i="1" dirty="0">
              <a:solidFill>
                <a:schemeClr val="bg2"/>
              </a:solidFill>
              <a:latin typeface="Ancizar Sans" panose="020B06020403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790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3514723" y="2190490"/>
            <a:ext cx="2093483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o-RO" sz="3200" i="1" dirty="0">
                <a:solidFill>
                  <a:schemeClr val="bg2"/>
                </a:solidFill>
                <a:latin typeface="Ancizar Serif"/>
                <a:cs typeface="Ancizar Serif"/>
              </a:rPr>
              <a:t>Gracias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246A0C8-F2FD-4F7E-1C1F-1636098F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2190908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-presentacion">
  <a:themeElements>
    <a:clrScheme name="UNAL 2024">
      <a:dk1>
        <a:srgbClr val="29272D"/>
      </a:dk1>
      <a:lt1>
        <a:srgbClr val="F7F5F2"/>
      </a:lt1>
      <a:dk2>
        <a:srgbClr val="481F63"/>
      </a:dk2>
      <a:lt2>
        <a:srgbClr val="F8ECCD"/>
      </a:lt2>
      <a:accent1>
        <a:srgbClr val="620C78"/>
      </a:accent1>
      <a:accent2>
        <a:srgbClr val="FFB93E"/>
      </a:accent2>
      <a:accent3>
        <a:srgbClr val="06784F"/>
      </a:accent3>
      <a:accent4>
        <a:srgbClr val="14C486"/>
      </a:accent4>
      <a:accent5>
        <a:srgbClr val="9F00C4"/>
      </a:accent5>
      <a:accent6>
        <a:srgbClr val="F79646"/>
      </a:accent6>
      <a:hlink>
        <a:srgbClr val="14C486"/>
      </a:hlink>
      <a:folHlink>
        <a:srgbClr val="9F00C4"/>
      </a:folHlink>
    </a:clrScheme>
    <a:fontScheme name="OCE">
      <a:majorFont>
        <a:latin typeface="Ancizar Serif Extrabold"/>
        <a:ea typeface=""/>
        <a:cs typeface=""/>
      </a:majorFont>
      <a:minorFont>
        <a:latin typeface="Ancizar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937</TotalTime>
  <Words>704</Words>
  <Application>Microsoft Office PowerPoint</Application>
  <PresentationFormat>Presentación en pantalla (16:9)</PresentationFormat>
  <Paragraphs>92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Ancizar Sans</vt:lpstr>
      <vt:lpstr>Ancizar Sans Light</vt:lpstr>
      <vt:lpstr>Ancizar Serif</vt:lpstr>
      <vt:lpstr>Ancizar Serif Extrabold</vt:lpstr>
      <vt:lpstr>Aptos</vt:lpstr>
      <vt:lpstr>Arial</vt:lpstr>
      <vt:lpstr>Plantilla-presentacion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Paola</dc:creator>
  <cp:lastModifiedBy>valentina herrera barroso</cp:lastModifiedBy>
  <cp:revision>12</cp:revision>
  <dcterms:created xsi:type="dcterms:W3CDTF">2024-06-25T17:03:54Z</dcterms:created>
  <dcterms:modified xsi:type="dcterms:W3CDTF">2025-11-01T01:59:22Z</dcterms:modified>
</cp:coreProperties>
</file>