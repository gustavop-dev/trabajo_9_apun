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Now Bold" charset="1" panose="00000800000000000000"/>
      <p:regular r:id="rId14"/>
    </p:embeddedFont>
    <p:embeddedFont>
      <p:font typeface="Canva Sans Italics" charset="1" panose="020B0503030501040103"/>
      <p:regular r:id="rId15"/>
    </p:embeddedFont>
    <p:embeddedFont>
      <p:font typeface="Canva Sans" charset="1" panose="020B0503030501040103"/>
      <p:regular r:id="rId16"/>
    </p:embeddedFont>
    <p:embeddedFont>
      <p:font typeface="Canva Sans Bold" charset="1" panose="020B08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12" Target="../media/image28.png" Type="http://schemas.openxmlformats.org/officeDocument/2006/relationships/image"/><Relationship Id="rId13" Target="../media/image29.sv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mc.ncbi.nlm.nih.gov/articles/PMC12230358/?utm_source=chatgpt.com" TargetMode="External" Type="http://schemas.openxmlformats.org/officeDocument/2006/relationships/hyperlink"/><Relationship Id="rId3" Target="https://pmc.ncbi.nlm.nih.gov/articles/PMC8393543" TargetMode="External" Type="http://schemas.openxmlformats.org/officeDocument/2006/relationships/hyperlink"/><Relationship Id="rId4" Target="https://www.exchange4media.com/digital-news/human-attention-span-dropped-from-12-secs-in-2000-to-8-secs-in-2018-taboola-nielsen-study-100272.html?utm_source=chatgpt.com" TargetMode="External" Type="http://schemas.openxmlformats.org/officeDocument/2006/relationships/hyperlink"/><Relationship Id="rId5" Target="https://www.istockphoto.com/es/search/2/image?phrase=celular" TargetMode="External" Type="http://schemas.openxmlformats.org/officeDocument/2006/relationships/hyperlink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85382" y="3062937"/>
            <a:ext cx="917235" cy="917235"/>
          </a:xfrm>
          <a:custGeom>
            <a:avLst/>
            <a:gdLst/>
            <a:ahLst/>
            <a:cxnLst/>
            <a:rect r="r" b="b" t="t" l="l"/>
            <a:pathLst>
              <a:path h="917235" w="917235">
                <a:moveTo>
                  <a:pt x="0" y="0"/>
                </a:moveTo>
                <a:lnTo>
                  <a:pt x="917236" y="0"/>
                </a:lnTo>
                <a:lnTo>
                  <a:pt x="917236" y="917235"/>
                </a:lnTo>
                <a:lnTo>
                  <a:pt x="0" y="917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17970" y="4500979"/>
            <a:ext cx="11852059" cy="1909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b="true" sz="3487" spc="244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LA ERA DE LA DISTRACCIÓN: EL PELIGRO DEL CONTENIDO CORTO Y LA PÉRDIDA DE ATENCIÓN EN LA SOCIEDAD DIGITAL</a:t>
            </a:r>
          </a:p>
          <a:p>
            <a:pPr algn="ctr" marL="0" indent="0" lvl="0">
              <a:lnSpc>
                <a:spcPts val="369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266149" y="6509688"/>
            <a:ext cx="7755702" cy="134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0"/>
              </a:lnSpc>
            </a:pPr>
            <a:r>
              <a:rPr lang="en-US" sz="2500" i="true" spc="-5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Juan Esteban Carvajal Escobar </a:t>
            </a:r>
          </a:p>
          <a:p>
            <a:pPr algn="ctr">
              <a:lnSpc>
                <a:spcPts val="2650"/>
              </a:lnSpc>
            </a:pPr>
            <a:r>
              <a:rPr lang="en-US" sz="2500" i="true" spc="-5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1001363405</a:t>
            </a:r>
          </a:p>
          <a:p>
            <a:pPr algn="ctr">
              <a:lnSpc>
                <a:spcPts val="2650"/>
              </a:lnSpc>
            </a:pPr>
          </a:p>
          <a:p>
            <a:pPr algn="ctr">
              <a:lnSpc>
                <a:spcPts val="2650"/>
              </a:lnSpc>
              <a:spcBef>
                <a:spcPct val="0"/>
              </a:spcBef>
            </a:pPr>
            <a:r>
              <a:rPr lang="en-US" sz="2500" i="true" spc="-5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Cátedra APUN-50 años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612471" y="519974"/>
            <a:ext cx="9623964" cy="9247051"/>
            <a:chOff x="0" y="0"/>
            <a:chExt cx="6258560" cy="60134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58560" cy="6013450"/>
            </a:xfrm>
            <a:custGeom>
              <a:avLst/>
              <a:gdLst/>
              <a:ahLst/>
              <a:cxnLst/>
              <a:rect r="r" b="b" t="t" l="l"/>
              <a:pathLst>
                <a:path h="6013450" w="6258560">
                  <a:moveTo>
                    <a:pt x="6258560" y="1503680"/>
                  </a:moveTo>
                  <a:lnTo>
                    <a:pt x="6258560" y="1503680"/>
                  </a:lnTo>
                  <a:cubicBezTo>
                    <a:pt x="6258560" y="673100"/>
                    <a:pt x="5585460" y="0"/>
                    <a:pt x="4754880" y="0"/>
                  </a:cubicBezTo>
                  <a:lnTo>
                    <a:pt x="0" y="0"/>
                  </a:lnTo>
                  <a:lnTo>
                    <a:pt x="0" y="3006090"/>
                  </a:lnTo>
                  <a:lnTo>
                    <a:pt x="1503680" y="3006090"/>
                  </a:lnTo>
                  <a:cubicBezTo>
                    <a:pt x="673100" y="3006090"/>
                    <a:pt x="0" y="3679190"/>
                    <a:pt x="0" y="4509770"/>
                  </a:cubicBezTo>
                  <a:lnTo>
                    <a:pt x="0" y="4509770"/>
                  </a:lnTo>
                  <a:cubicBezTo>
                    <a:pt x="0" y="5340350"/>
                    <a:pt x="673100" y="6013450"/>
                    <a:pt x="1503680" y="6013450"/>
                  </a:cubicBezTo>
                  <a:lnTo>
                    <a:pt x="6258560" y="6013450"/>
                  </a:lnTo>
                  <a:lnTo>
                    <a:pt x="6258560" y="3007360"/>
                  </a:lnTo>
                  <a:lnTo>
                    <a:pt x="4754880" y="3007360"/>
                  </a:lnTo>
                  <a:cubicBezTo>
                    <a:pt x="5585460" y="3007360"/>
                    <a:pt x="6258560" y="2334260"/>
                    <a:pt x="6258560" y="1503680"/>
                  </a:cubicBezTo>
                  <a:close/>
                </a:path>
              </a:pathLst>
            </a:custGeom>
            <a:blipFill>
              <a:blip r:embed="rId2"/>
              <a:stretch>
                <a:fillRect l="-22062" t="0" r="-2206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3398896" y="8875453"/>
            <a:ext cx="4011502" cy="2823094"/>
          </a:xfrm>
          <a:custGeom>
            <a:avLst/>
            <a:gdLst/>
            <a:ahLst/>
            <a:cxnLst/>
            <a:rect r="r" b="b" t="t" l="l"/>
            <a:pathLst>
              <a:path h="2823094" w="4011502">
                <a:moveTo>
                  <a:pt x="0" y="0"/>
                </a:moveTo>
                <a:lnTo>
                  <a:pt x="4011502" y="0"/>
                </a:lnTo>
                <a:lnTo>
                  <a:pt x="4011502" y="2823094"/>
                </a:lnTo>
                <a:lnTo>
                  <a:pt x="0" y="28230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05247" y="2375373"/>
            <a:ext cx="8210804" cy="2812104"/>
            <a:chOff x="0" y="0"/>
            <a:chExt cx="10947738" cy="3749472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655033" y="312320"/>
              <a:ext cx="9292705" cy="997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559"/>
                </a:lnSpc>
                <a:spcBef>
                  <a:spcPct val="0"/>
                </a:spcBef>
              </a:pPr>
              <a:r>
                <a:rPr lang="en-US" b="true" sz="5245" spc="36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INTRODUCCIÓN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391253" y="1828988"/>
              <a:ext cx="10556485" cy="1920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0"/>
                </a:lnSpc>
                <a:spcBef>
                  <a:spcPct val="0"/>
                </a:spcBef>
              </a:pPr>
              <a:r>
                <a:rPr lang="en-US" sz="22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Cada día, millones de personas —especialmente jóvenes— pasamos horas viendo videos cortos en plataformas como TikTok, Instagram Reels o YouTube Shorts, diseñadas para mantenernos deslizando sin parar.</a:t>
              </a:r>
            </a:p>
          </p:txBody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3289" cy="1253289"/>
            </a:xfrm>
            <a:custGeom>
              <a:avLst/>
              <a:gdLst/>
              <a:ahLst/>
              <a:cxnLst/>
              <a:rect r="r" b="b" t="t" l="l"/>
              <a:pathLst>
                <a:path h="1253289" w="1253289">
                  <a:moveTo>
                    <a:pt x="0" y="0"/>
                  </a:moveTo>
                  <a:lnTo>
                    <a:pt x="1253289" y="0"/>
                  </a:lnTo>
                  <a:lnTo>
                    <a:pt x="1253289" y="1253289"/>
                  </a:lnTo>
                  <a:lnTo>
                    <a:pt x="0" y="1253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327207" y="337539"/>
              <a:ext cx="625262" cy="589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03"/>
                </a:lnSpc>
                <a:spcBef>
                  <a:spcPct val="0"/>
                </a:spcBef>
              </a:pPr>
              <a:r>
                <a:rPr lang="en-US" b="true" sz="3116" spc="-62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7504" y="1782957"/>
            <a:ext cx="986966" cy="986966"/>
          </a:xfrm>
          <a:custGeom>
            <a:avLst/>
            <a:gdLst/>
            <a:ahLst/>
            <a:cxnLst/>
            <a:rect r="r" b="b" t="t" l="l"/>
            <a:pathLst>
              <a:path h="986966" w="986966">
                <a:moveTo>
                  <a:pt x="0" y="0"/>
                </a:moveTo>
                <a:lnTo>
                  <a:pt x="986966" y="0"/>
                </a:lnTo>
                <a:lnTo>
                  <a:pt x="986966" y="986966"/>
                </a:lnTo>
                <a:lnTo>
                  <a:pt x="0" y="9869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014921" y="1886101"/>
            <a:ext cx="5785575" cy="6514798"/>
            <a:chOff x="0" y="0"/>
            <a:chExt cx="6096000" cy="68643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109220" y="-20320"/>
              <a:ext cx="6314440" cy="6904990"/>
            </a:xfrm>
            <a:custGeom>
              <a:avLst/>
              <a:gdLst/>
              <a:ahLst/>
              <a:cxnLst/>
              <a:rect r="r" b="b" t="t" l="l"/>
              <a:pathLst>
                <a:path h="6904990" w="6314440">
                  <a:moveTo>
                    <a:pt x="6164580" y="2338070"/>
                  </a:moveTo>
                  <a:lnTo>
                    <a:pt x="6164580" y="2338070"/>
                  </a:lnTo>
                  <a:cubicBezTo>
                    <a:pt x="6191250" y="2249170"/>
                    <a:pt x="6205220" y="2160270"/>
                    <a:pt x="6205220" y="2071370"/>
                  </a:cubicBezTo>
                  <a:lnTo>
                    <a:pt x="6205220" y="2071370"/>
                  </a:lnTo>
                  <a:lnTo>
                    <a:pt x="6205220" y="20320"/>
                  </a:lnTo>
                  <a:lnTo>
                    <a:pt x="1089660" y="21590"/>
                  </a:lnTo>
                  <a:lnTo>
                    <a:pt x="1089660" y="21590"/>
                  </a:lnTo>
                  <a:cubicBezTo>
                    <a:pt x="671830" y="0"/>
                    <a:pt x="276860" y="261620"/>
                    <a:pt x="149860" y="679450"/>
                  </a:cubicBezTo>
                  <a:lnTo>
                    <a:pt x="149860" y="679450"/>
                  </a:lnTo>
                  <a:cubicBezTo>
                    <a:pt x="0" y="1172210"/>
                    <a:pt x="276860" y="1692910"/>
                    <a:pt x="768350" y="1842770"/>
                  </a:cubicBezTo>
                  <a:lnTo>
                    <a:pt x="1211580" y="1978660"/>
                  </a:lnTo>
                  <a:cubicBezTo>
                    <a:pt x="750570" y="1892300"/>
                    <a:pt x="289560" y="2164080"/>
                    <a:pt x="149860" y="2622550"/>
                  </a:cubicBezTo>
                  <a:lnTo>
                    <a:pt x="149860" y="2622550"/>
                  </a:lnTo>
                  <a:cubicBezTo>
                    <a:pt x="0" y="3115310"/>
                    <a:pt x="276860" y="3636010"/>
                    <a:pt x="768350" y="3785870"/>
                  </a:cubicBezTo>
                  <a:lnTo>
                    <a:pt x="1211580" y="3921760"/>
                  </a:lnTo>
                  <a:cubicBezTo>
                    <a:pt x="750570" y="3835400"/>
                    <a:pt x="289560" y="4107180"/>
                    <a:pt x="149860" y="4565650"/>
                  </a:cubicBezTo>
                  <a:lnTo>
                    <a:pt x="149860" y="4565650"/>
                  </a:lnTo>
                  <a:cubicBezTo>
                    <a:pt x="123190" y="4654550"/>
                    <a:pt x="109220" y="4743450"/>
                    <a:pt x="109220" y="4832350"/>
                  </a:cubicBezTo>
                  <a:lnTo>
                    <a:pt x="109220" y="4832350"/>
                  </a:lnTo>
                  <a:lnTo>
                    <a:pt x="109220" y="4832350"/>
                  </a:lnTo>
                  <a:cubicBezTo>
                    <a:pt x="109220" y="4838700"/>
                    <a:pt x="109220" y="4845050"/>
                    <a:pt x="109220" y="4851400"/>
                  </a:cubicBezTo>
                  <a:lnTo>
                    <a:pt x="109220" y="6884670"/>
                  </a:lnTo>
                  <a:lnTo>
                    <a:pt x="5224780" y="6883400"/>
                  </a:lnTo>
                  <a:lnTo>
                    <a:pt x="5224780" y="6883400"/>
                  </a:lnTo>
                  <a:cubicBezTo>
                    <a:pt x="5642610" y="6904990"/>
                    <a:pt x="6036310" y="6643370"/>
                    <a:pt x="6164580" y="6225540"/>
                  </a:cubicBezTo>
                  <a:lnTo>
                    <a:pt x="6164580" y="6225540"/>
                  </a:lnTo>
                  <a:cubicBezTo>
                    <a:pt x="6314440" y="5732781"/>
                    <a:pt x="6037580" y="5212081"/>
                    <a:pt x="5546090" y="5062220"/>
                  </a:cubicBezTo>
                  <a:lnTo>
                    <a:pt x="5102860" y="4926330"/>
                  </a:lnTo>
                  <a:cubicBezTo>
                    <a:pt x="5563870" y="5012690"/>
                    <a:pt x="6024880" y="4740910"/>
                    <a:pt x="6164580" y="4282440"/>
                  </a:cubicBezTo>
                  <a:lnTo>
                    <a:pt x="6164580" y="4282440"/>
                  </a:lnTo>
                  <a:cubicBezTo>
                    <a:pt x="6314440" y="3789680"/>
                    <a:pt x="6037580" y="3268980"/>
                    <a:pt x="5546090" y="3119120"/>
                  </a:cubicBezTo>
                  <a:lnTo>
                    <a:pt x="5102860" y="2983230"/>
                  </a:lnTo>
                  <a:cubicBezTo>
                    <a:pt x="5562600" y="3068320"/>
                    <a:pt x="6024880" y="2797810"/>
                    <a:pt x="6164580" y="2338070"/>
                  </a:cubicBezTo>
                  <a:close/>
                </a:path>
              </a:pathLst>
            </a:custGeom>
            <a:blipFill>
              <a:blip r:embed="rId4"/>
              <a:stretch>
                <a:fillRect l="-34451" t="0" r="-34451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4139950" y="7923960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394599" y="2288731"/>
            <a:ext cx="811794" cy="787440"/>
          </a:xfrm>
          <a:custGeom>
            <a:avLst/>
            <a:gdLst/>
            <a:ahLst/>
            <a:cxnLst/>
            <a:rect r="r" b="b" t="t" l="l"/>
            <a:pathLst>
              <a:path h="787440" w="811794">
                <a:moveTo>
                  <a:pt x="0" y="0"/>
                </a:moveTo>
                <a:lnTo>
                  <a:pt x="811794" y="0"/>
                </a:lnTo>
                <a:lnTo>
                  <a:pt x="811794" y="787441"/>
                </a:lnTo>
                <a:lnTo>
                  <a:pt x="0" y="7874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45180" y="2056865"/>
            <a:ext cx="492394" cy="45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8"/>
              </a:lnSpc>
              <a:spcBef>
                <a:spcPct val="0"/>
              </a:spcBef>
            </a:pPr>
            <a:r>
              <a:rPr lang="en-US" b="true" sz="3272" spc="-6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6104" y="2979473"/>
            <a:ext cx="6427896" cy="1322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1"/>
              </a:lnSpc>
              <a:spcBef>
                <a:spcPct val="0"/>
              </a:spcBef>
            </a:pPr>
            <a:r>
              <a:rPr lang="en-US" b="true" sz="4756" spc="332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¿POR QUÉ FUNCIONA ESTO?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16104" y="4791452"/>
            <a:ext cx="6427896" cy="101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50"/>
              </a:lnSpc>
              <a:spcBef>
                <a:spcPct val="0"/>
              </a:spcBef>
            </a:pPr>
            <a:r>
              <a:rPr lang="en-US" sz="2500" i="true" spc="-5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dis</a:t>
            </a:r>
            <a:r>
              <a:rPr lang="en-US" sz="2500" i="true" spc="-50" strike="noStrike" u="none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ociación normativa y  Programa de razón variable </a:t>
            </a:r>
          </a:p>
          <a:p>
            <a:pPr algn="l" marL="0" indent="0" lvl="0">
              <a:lnSpc>
                <a:spcPts val="26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7233" y="1772090"/>
            <a:ext cx="973533" cy="973533"/>
          </a:xfrm>
          <a:custGeom>
            <a:avLst/>
            <a:gdLst/>
            <a:ahLst/>
            <a:cxnLst/>
            <a:rect r="r" b="b" t="t" l="l"/>
            <a:pathLst>
              <a:path h="973533" w="973533">
                <a:moveTo>
                  <a:pt x="0" y="0"/>
                </a:moveTo>
                <a:lnTo>
                  <a:pt x="973534" y="0"/>
                </a:lnTo>
                <a:lnTo>
                  <a:pt x="973534" y="973533"/>
                </a:lnTo>
                <a:lnTo>
                  <a:pt x="0" y="973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14691" y="5240553"/>
            <a:ext cx="458618" cy="458618"/>
          </a:xfrm>
          <a:custGeom>
            <a:avLst/>
            <a:gdLst/>
            <a:ahLst/>
            <a:cxnLst/>
            <a:rect r="r" b="b" t="t" l="l"/>
            <a:pathLst>
              <a:path h="458618" w="458618">
                <a:moveTo>
                  <a:pt x="0" y="0"/>
                </a:moveTo>
                <a:lnTo>
                  <a:pt x="458618" y="0"/>
                </a:lnTo>
                <a:lnTo>
                  <a:pt x="458618" y="458618"/>
                </a:lnTo>
                <a:lnTo>
                  <a:pt x="0" y="458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02891" y="5881949"/>
            <a:ext cx="6882218" cy="1486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2"/>
              </a:lnSpc>
              <a:spcBef>
                <a:spcPct val="0"/>
              </a:spcBef>
            </a:pPr>
            <a:r>
              <a:rPr lang="en-US" sz="2200" spc="-4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Cad</a:t>
            </a:r>
            <a:r>
              <a:rPr lang="en-US" sz="2200" spc="-44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 video, sonido o transición rápida está cuidadosamente diseñado para activar el sistema dopaminérgico del cerebro, generando placer inmediato.</a:t>
            </a:r>
          </a:p>
          <a:p>
            <a:pPr algn="ctr" marL="0" indent="0" lvl="0">
              <a:lnSpc>
                <a:spcPts val="2332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10822" y="8696951"/>
            <a:ext cx="561349" cy="561349"/>
          </a:xfrm>
          <a:custGeom>
            <a:avLst/>
            <a:gdLst/>
            <a:ahLst/>
            <a:cxnLst/>
            <a:rect r="r" b="b" t="t" l="l"/>
            <a:pathLst>
              <a:path h="561349" w="561349">
                <a:moveTo>
                  <a:pt x="0" y="0"/>
                </a:moveTo>
                <a:lnTo>
                  <a:pt x="561349" y="0"/>
                </a:lnTo>
                <a:lnTo>
                  <a:pt x="561349" y="561349"/>
                </a:lnTo>
                <a:lnTo>
                  <a:pt x="0" y="561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22112" y="8421112"/>
            <a:ext cx="837188" cy="837188"/>
          </a:xfrm>
          <a:custGeom>
            <a:avLst/>
            <a:gdLst/>
            <a:ahLst/>
            <a:cxnLst/>
            <a:rect r="r" b="b" t="t" l="l"/>
            <a:pathLst>
              <a:path h="837188" w="837188">
                <a:moveTo>
                  <a:pt x="0" y="0"/>
                </a:moveTo>
                <a:lnTo>
                  <a:pt x="837188" y="0"/>
                </a:lnTo>
                <a:lnTo>
                  <a:pt x="837188" y="837188"/>
                </a:lnTo>
                <a:lnTo>
                  <a:pt x="0" y="837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901154" y="2042789"/>
            <a:ext cx="485693" cy="44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b="true" sz="3227" spc="-6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91955" y="3032621"/>
            <a:ext cx="7304089" cy="2101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5150" spc="36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EL</a:t>
            </a:r>
            <a:r>
              <a:rPr lang="en-US" b="true" sz="5150" spc="360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 NEGOCIO DE LA ATENCIÓN </a:t>
            </a:r>
          </a:p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60432" y="4222872"/>
            <a:ext cx="458618" cy="458618"/>
          </a:xfrm>
          <a:custGeom>
            <a:avLst/>
            <a:gdLst/>
            <a:ahLst/>
            <a:cxnLst/>
            <a:rect r="r" b="b" t="t" l="l"/>
            <a:pathLst>
              <a:path h="458618" w="458618">
                <a:moveTo>
                  <a:pt x="0" y="0"/>
                </a:moveTo>
                <a:lnTo>
                  <a:pt x="458617" y="0"/>
                </a:lnTo>
                <a:lnTo>
                  <a:pt x="458617" y="458618"/>
                </a:lnTo>
                <a:lnTo>
                  <a:pt x="0" y="458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42635" y="1773667"/>
            <a:ext cx="1622565" cy="1622565"/>
            <a:chOff x="0" y="0"/>
            <a:chExt cx="2163420" cy="21634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63420" cy="2163420"/>
            </a:xfrm>
            <a:custGeom>
              <a:avLst/>
              <a:gdLst/>
              <a:ahLst/>
              <a:cxnLst/>
              <a:rect r="r" b="b" t="t" l="l"/>
              <a:pathLst>
                <a:path h="2163420" w="2163420">
                  <a:moveTo>
                    <a:pt x="0" y="0"/>
                  </a:moveTo>
                  <a:lnTo>
                    <a:pt x="2163420" y="0"/>
                  </a:lnTo>
                  <a:lnTo>
                    <a:pt x="2163420" y="2163420"/>
                  </a:lnTo>
                  <a:lnTo>
                    <a:pt x="0" y="21634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542048" y="583564"/>
              <a:ext cx="1079324" cy="1017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02"/>
                </a:lnSpc>
                <a:spcBef>
                  <a:spcPct val="0"/>
                </a:spcBef>
              </a:pPr>
              <a:r>
                <a:rPr lang="en-US" b="true" sz="5379" spc="-107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3431480" y="1041750"/>
            <a:ext cx="6584496" cy="8203500"/>
            <a:chOff x="0" y="0"/>
            <a:chExt cx="6089650" cy="75869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21920" y="-120650"/>
              <a:ext cx="6333490" cy="7828280"/>
            </a:xfrm>
            <a:custGeom>
              <a:avLst/>
              <a:gdLst/>
              <a:ahLst/>
              <a:cxnLst/>
              <a:rect r="r" b="b" t="t" l="l"/>
              <a:pathLst>
                <a:path h="7828280" w="6333490">
                  <a:moveTo>
                    <a:pt x="6167120" y="4831080"/>
                  </a:moveTo>
                  <a:lnTo>
                    <a:pt x="6167120" y="4831080"/>
                  </a:lnTo>
                  <a:cubicBezTo>
                    <a:pt x="6333490" y="4287520"/>
                    <a:pt x="6027420" y="3710940"/>
                    <a:pt x="5482590" y="3544570"/>
                  </a:cubicBezTo>
                  <a:lnTo>
                    <a:pt x="4992370" y="3394710"/>
                  </a:lnTo>
                  <a:cubicBezTo>
                    <a:pt x="5501640" y="3489960"/>
                    <a:pt x="6012180" y="3190240"/>
                    <a:pt x="6167120" y="2683510"/>
                  </a:cubicBezTo>
                  <a:lnTo>
                    <a:pt x="6167120" y="2683510"/>
                  </a:lnTo>
                  <a:cubicBezTo>
                    <a:pt x="6333490" y="2139950"/>
                    <a:pt x="6027420" y="1563370"/>
                    <a:pt x="5482590" y="1397000"/>
                  </a:cubicBezTo>
                  <a:lnTo>
                    <a:pt x="1452880" y="166370"/>
                  </a:lnTo>
                  <a:cubicBezTo>
                    <a:pt x="909320" y="0"/>
                    <a:pt x="334010" y="306070"/>
                    <a:pt x="167640" y="849630"/>
                  </a:cubicBezTo>
                  <a:lnTo>
                    <a:pt x="167640" y="849630"/>
                  </a:lnTo>
                  <a:cubicBezTo>
                    <a:pt x="1270" y="1393190"/>
                    <a:pt x="307340" y="1969770"/>
                    <a:pt x="852170" y="2136140"/>
                  </a:cubicBezTo>
                  <a:lnTo>
                    <a:pt x="1341120" y="2286000"/>
                  </a:lnTo>
                  <a:cubicBezTo>
                    <a:pt x="831850" y="2190750"/>
                    <a:pt x="321310" y="2490470"/>
                    <a:pt x="166370" y="2997200"/>
                  </a:cubicBezTo>
                  <a:lnTo>
                    <a:pt x="166370" y="2997200"/>
                  </a:lnTo>
                  <a:cubicBezTo>
                    <a:pt x="0" y="3540760"/>
                    <a:pt x="306070" y="4117340"/>
                    <a:pt x="850900" y="4283710"/>
                  </a:cubicBezTo>
                  <a:lnTo>
                    <a:pt x="1341120" y="4433570"/>
                  </a:lnTo>
                  <a:cubicBezTo>
                    <a:pt x="831850" y="4338320"/>
                    <a:pt x="321310" y="4638040"/>
                    <a:pt x="166370" y="5144770"/>
                  </a:cubicBezTo>
                  <a:lnTo>
                    <a:pt x="166370" y="5144770"/>
                  </a:lnTo>
                  <a:cubicBezTo>
                    <a:pt x="0" y="5688330"/>
                    <a:pt x="306070" y="6264910"/>
                    <a:pt x="850900" y="6431280"/>
                  </a:cubicBezTo>
                  <a:lnTo>
                    <a:pt x="4880610" y="7661911"/>
                  </a:lnTo>
                  <a:cubicBezTo>
                    <a:pt x="5424170" y="7828280"/>
                    <a:pt x="6000750" y="7522211"/>
                    <a:pt x="6167120" y="6977380"/>
                  </a:cubicBezTo>
                  <a:lnTo>
                    <a:pt x="6167120" y="6977380"/>
                  </a:lnTo>
                  <a:cubicBezTo>
                    <a:pt x="6333490" y="6433820"/>
                    <a:pt x="6027420" y="5857240"/>
                    <a:pt x="5482590" y="5690870"/>
                  </a:cubicBezTo>
                  <a:lnTo>
                    <a:pt x="4992370" y="5541011"/>
                  </a:lnTo>
                  <a:cubicBezTo>
                    <a:pt x="5501640" y="5638800"/>
                    <a:pt x="6012180" y="5337810"/>
                    <a:pt x="6167120" y="4831080"/>
                  </a:cubicBezTo>
                  <a:close/>
                </a:path>
              </a:pathLst>
            </a:custGeom>
            <a:blipFill>
              <a:blip r:embed="rId6"/>
              <a:stretch>
                <a:fillRect l="-39458" t="0" r="-3945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060432" y="1781923"/>
            <a:ext cx="7531251" cy="211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5150" spc="36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IMPACTOS PSICOLÓGICOS Y SOCIALES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0432" y="5040135"/>
            <a:ext cx="6427896" cy="2349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2500" i="true" spc="-50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esta dinámica no solo afecta a los adolescentes. También impacta a estudiantes universitarios, profesionales y docentes. Nos cuesta leer, escribir o concentrarnos por períodos largos, lo cual debilita el aprendizaje y la productividad.</a:t>
            </a:r>
          </a:p>
          <a:p>
            <a:pPr algn="l" marL="0" indent="0" lvl="0">
              <a:lnSpc>
                <a:spcPts val="26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57233" y="1772090"/>
            <a:ext cx="973533" cy="973533"/>
          </a:xfrm>
          <a:custGeom>
            <a:avLst/>
            <a:gdLst/>
            <a:ahLst/>
            <a:cxnLst/>
            <a:rect r="r" b="b" t="t" l="l"/>
            <a:pathLst>
              <a:path h="973533" w="973533">
                <a:moveTo>
                  <a:pt x="0" y="0"/>
                </a:moveTo>
                <a:lnTo>
                  <a:pt x="973534" y="0"/>
                </a:lnTo>
                <a:lnTo>
                  <a:pt x="973534" y="973533"/>
                </a:lnTo>
                <a:lnTo>
                  <a:pt x="0" y="973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14691" y="5240553"/>
            <a:ext cx="458618" cy="458618"/>
          </a:xfrm>
          <a:custGeom>
            <a:avLst/>
            <a:gdLst/>
            <a:ahLst/>
            <a:cxnLst/>
            <a:rect r="r" b="b" t="t" l="l"/>
            <a:pathLst>
              <a:path h="458618" w="458618">
                <a:moveTo>
                  <a:pt x="0" y="0"/>
                </a:moveTo>
                <a:lnTo>
                  <a:pt x="458618" y="0"/>
                </a:lnTo>
                <a:lnTo>
                  <a:pt x="458618" y="458618"/>
                </a:lnTo>
                <a:lnTo>
                  <a:pt x="0" y="458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10822" y="8696951"/>
            <a:ext cx="561349" cy="561349"/>
          </a:xfrm>
          <a:custGeom>
            <a:avLst/>
            <a:gdLst/>
            <a:ahLst/>
            <a:cxnLst/>
            <a:rect r="r" b="b" t="t" l="l"/>
            <a:pathLst>
              <a:path h="561349" w="561349">
                <a:moveTo>
                  <a:pt x="0" y="0"/>
                </a:moveTo>
                <a:lnTo>
                  <a:pt x="561349" y="0"/>
                </a:lnTo>
                <a:lnTo>
                  <a:pt x="561349" y="561349"/>
                </a:lnTo>
                <a:lnTo>
                  <a:pt x="0" y="561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422112" y="8421112"/>
            <a:ext cx="837188" cy="837188"/>
          </a:xfrm>
          <a:custGeom>
            <a:avLst/>
            <a:gdLst/>
            <a:ahLst/>
            <a:cxnLst/>
            <a:rect r="r" b="b" t="t" l="l"/>
            <a:pathLst>
              <a:path h="837188" w="837188">
                <a:moveTo>
                  <a:pt x="0" y="0"/>
                </a:moveTo>
                <a:lnTo>
                  <a:pt x="837188" y="0"/>
                </a:lnTo>
                <a:lnTo>
                  <a:pt x="837188" y="837188"/>
                </a:lnTo>
                <a:lnTo>
                  <a:pt x="0" y="8371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6332984" y="-211011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1876182">
            <a:off x="181535" y="7667751"/>
            <a:ext cx="3234258" cy="2619749"/>
          </a:xfrm>
          <a:custGeom>
            <a:avLst/>
            <a:gdLst/>
            <a:ahLst/>
            <a:cxnLst/>
            <a:rect r="r" b="b" t="t" l="l"/>
            <a:pathLst>
              <a:path h="2619749" w="3234258">
                <a:moveTo>
                  <a:pt x="0" y="2619749"/>
                </a:moveTo>
                <a:lnTo>
                  <a:pt x="3234258" y="2619749"/>
                </a:lnTo>
                <a:lnTo>
                  <a:pt x="3234258" y="0"/>
                </a:lnTo>
                <a:lnTo>
                  <a:pt x="0" y="0"/>
                </a:lnTo>
                <a:lnTo>
                  <a:pt x="0" y="2619749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8995" y="2004689"/>
            <a:ext cx="5173410" cy="5004711"/>
            <a:chOff x="0" y="0"/>
            <a:chExt cx="6897880" cy="66729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24600" cy="6324600"/>
            </a:xfrm>
            <a:custGeom>
              <a:avLst/>
              <a:gdLst/>
              <a:ahLst/>
              <a:cxnLst/>
              <a:rect r="r" b="b" t="t" l="l"/>
              <a:pathLst>
                <a:path h="6324600" w="6324600">
                  <a:moveTo>
                    <a:pt x="0" y="0"/>
                  </a:moveTo>
                  <a:lnTo>
                    <a:pt x="6324600" y="0"/>
                  </a:lnTo>
                  <a:lnTo>
                    <a:pt x="6324600" y="6324600"/>
                  </a:lnTo>
                  <a:lnTo>
                    <a:pt x="0" y="632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282985" y="58052"/>
              <a:ext cx="6614895" cy="6614895"/>
              <a:chOff x="0" y="0"/>
              <a:chExt cx="6272530" cy="627253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-177800" y="-179070"/>
                <a:ext cx="6629400" cy="6629400"/>
              </a:xfrm>
              <a:custGeom>
                <a:avLst/>
                <a:gdLst/>
                <a:ahLst/>
                <a:cxnLst/>
                <a:rect r="r" b="b" t="t" l="l"/>
                <a:pathLst>
                  <a:path h="6629400" w="6629400">
                    <a:moveTo>
                      <a:pt x="5915660" y="3328670"/>
                    </a:moveTo>
                    <a:cubicBezTo>
                      <a:pt x="6629400" y="4043680"/>
                      <a:pt x="6629400" y="5201920"/>
                      <a:pt x="5915660" y="5915660"/>
                    </a:cubicBezTo>
                    <a:cubicBezTo>
                      <a:pt x="5200650" y="6629400"/>
                      <a:pt x="4042410" y="6629400"/>
                      <a:pt x="3328670" y="5915660"/>
                    </a:cubicBezTo>
                    <a:lnTo>
                      <a:pt x="3314700" y="5901690"/>
                    </a:lnTo>
                    <a:lnTo>
                      <a:pt x="3300730" y="5915660"/>
                    </a:lnTo>
                    <a:cubicBezTo>
                      <a:pt x="2585720" y="6629400"/>
                      <a:pt x="1427480" y="6629400"/>
                      <a:pt x="713740" y="5915660"/>
                    </a:cubicBezTo>
                    <a:cubicBezTo>
                      <a:pt x="0" y="5200650"/>
                      <a:pt x="0" y="4042410"/>
                      <a:pt x="713740" y="3328670"/>
                    </a:cubicBezTo>
                    <a:lnTo>
                      <a:pt x="727710" y="3314700"/>
                    </a:lnTo>
                    <a:lnTo>
                      <a:pt x="713740" y="3300730"/>
                    </a:lnTo>
                    <a:cubicBezTo>
                      <a:pt x="0" y="2585720"/>
                      <a:pt x="0" y="1427480"/>
                      <a:pt x="713740" y="713740"/>
                    </a:cubicBezTo>
                    <a:cubicBezTo>
                      <a:pt x="1427480" y="1270"/>
                      <a:pt x="2585720" y="1270"/>
                      <a:pt x="3300730" y="713740"/>
                    </a:cubicBezTo>
                    <a:lnTo>
                      <a:pt x="3314700" y="727710"/>
                    </a:lnTo>
                    <a:lnTo>
                      <a:pt x="3328670" y="713740"/>
                    </a:lnTo>
                    <a:cubicBezTo>
                      <a:pt x="4043680" y="0"/>
                      <a:pt x="5201920" y="0"/>
                      <a:pt x="5915660" y="713740"/>
                    </a:cubicBezTo>
                    <a:cubicBezTo>
                      <a:pt x="6629400" y="1428750"/>
                      <a:pt x="6629400" y="2586990"/>
                      <a:pt x="5915660" y="3300730"/>
                    </a:cubicBezTo>
                    <a:lnTo>
                      <a:pt x="5901690" y="3314700"/>
                    </a:lnTo>
                    <a:lnTo>
                      <a:pt x="5915660" y="332867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-37179" t="0" r="-37179" b="0"/>
                </a:stretch>
              </a:blipFill>
            </p:spPr>
          </p:sp>
        </p:grpSp>
      </p:grpSp>
      <p:grpSp>
        <p:nvGrpSpPr>
          <p:cNvPr name="Group 12" id="12"/>
          <p:cNvGrpSpPr/>
          <p:nvPr/>
        </p:nvGrpSpPr>
        <p:grpSpPr>
          <a:xfrm rot="0">
            <a:off x="12796045" y="2258857"/>
            <a:ext cx="5135310" cy="5052868"/>
            <a:chOff x="0" y="0"/>
            <a:chExt cx="6847080" cy="67371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22480" y="412558"/>
              <a:ext cx="6324600" cy="6324600"/>
            </a:xfrm>
            <a:custGeom>
              <a:avLst/>
              <a:gdLst/>
              <a:ahLst/>
              <a:cxnLst/>
              <a:rect r="r" b="b" t="t" l="l"/>
              <a:pathLst>
                <a:path h="6324600" w="6324600">
                  <a:moveTo>
                    <a:pt x="0" y="0"/>
                  </a:moveTo>
                  <a:lnTo>
                    <a:pt x="6324600" y="0"/>
                  </a:lnTo>
                  <a:lnTo>
                    <a:pt x="6324600" y="6324600"/>
                  </a:lnTo>
                  <a:lnTo>
                    <a:pt x="0" y="632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0" y="0"/>
              <a:ext cx="6614895" cy="6614895"/>
              <a:chOff x="0" y="0"/>
              <a:chExt cx="6272530" cy="627253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-177800" y="-179070"/>
                <a:ext cx="6629400" cy="6629400"/>
              </a:xfrm>
              <a:custGeom>
                <a:avLst/>
                <a:gdLst/>
                <a:ahLst/>
                <a:cxnLst/>
                <a:rect r="r" b="b" t="t" l="l"/>
                <a:pathLst>
                  <a:path h="6629400" w="6629400">
                    <a:moveTo>
                      <a:pt x="5915660" y="3328670"/>
                    </a:moveTo>
                    <a:cubicBezTo>
                      <a:pt x="6629400" y="4043680"/>
                      <a:pt x="6629400" y="5201920"/>
                      <a:pt x="5915660" y="5915660"/>
                    </a:cubicBezTo>
                    <a:cubicBezTo>
                      <a:pt x="5200650" y="6629400"/>
                      <a:pt x="4042410" y="6629400"/>
                      <a:pt x="3328670" y="5915660"/>
                    </a:cubicBezTo>
                    <a:lnTo>
                      <a:pt x="3314700" y="5901690"/>
                    </a:lnTo>
                    <a:lnTo>
                      <a:pt x="3300730" y="5915660"/>
                    </a:lnTo>
                    <a:cubicBezTo>
                      <a:pt x="2585720" y="6629400"/>
                      <a:pt x="1427480" y="6629400"/>
                      <a:pt x="713740" y="5915660"/>
                    </a:cubicBezTo>
                    <a:cubicBezTo>
                      <a:pt x="0" y="5200650"/>
                      <a:pt x="0" y="4042410"/>
                      <a:pt x="713740" y="3328670"/>
                    </a:cubicBezTo>
                    <a:lnTo>
                      <a:pt x="727710" y="3314700"/>
                    </a:lnTo>
                    <a:lnTo>
                      <a:pt x="713740" y="3300730"/>
                    </a:lnTo>
                    <a:cubicBezTo>
                      <a:pt x="0" y="2585720"/>
                      <a:pt x="0" y="1427480"/>
                      <a:pt x="713740" y="713740"/>
                    </a:cubicBezTo>
                    <a:cubicBezTo>
                      <a:pt x="1427480" y="1270"/>
                      <a:pt x="2585720" y="1270"/>
                      <a:pt x="3300730" y="713740"/>
                    </a:cubicBezTo>
                    <a:lnTo>
                      <a:pt x="3314700" y="727710"/>
                    </a:lnTo>
                    <a:lnTo>
                      <a:pt x="3328670" y="713740"/>
                    </a:lnTo>
                    <a:cubicBezTo>
                      <a:pt x="4043680" y="0"/>
                      <a:pt x="5201920" y="0"/>
                      <a:pt x="5915660" y="713740"/>
                    </a:cubicBezTo>
                    <a:cubicBezTo>
                      <a:pt x="6629400" y="1428750"/>
                      <a:pt x="6629400" y="2586990"/>
                      <a:pt x="5915660" y="3300730"/>
                    </a:cubicBezTo>
                    <a:lnTo>
                      <a:pt x="5901690" y="3314700"/>
                    </a:lnTo>
                    <a:lnTo>
                      <a:pt x="5915660" y="3328670"/>
                    </a:lnTo>
                    <a:close/>
                  </a:path>
                </a:pathLst>
              </a:custGeom>
              <a:blipFill>
                <a:blip r:embed="rId15"/>
                <a:stretch>
                  <a:fillRect l="-24999" t="0" r="-24999" b="0"/>
                </a:stretch>
              </a:blipFill>
            </p:spPr>
          </p:sp>
        </p:grpSp>
      </p:grpSp>
      <p:sp>
        <p:nvSpPr>
          <p:cNvPr name="TextBox 16" id="16"/>
          <p:cNvSpPr txBox="true"/>
          <p:nvPr/>
        </p:nvSpPr>
        <p:spPr>
          <a:xfrm rot="0">
            <a:off x="5702891" y="5881949"/>
            <a:ext cx="6882218" cy="89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32"/>
              </a:lnSpc>
              <a:spcBef>
                <a:spcPct val="0"/>
              </a:spcBef>
            </a:pPr>
            <a:r>
              <a:rPr lang="en-US" sz="2200" spc="-4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200" spc="-44" strike="noStrike" u="none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se trata de satanizar la tecnología, sino de usar la tecnología con conciencia.</a:t>
            </a:r>
          </a:p>
          <a:p>
            <a:pPr algn="ctr" marL="0" indent="0" lvl="0">
              <a:lnSpc>
                <a:spcPts val="2332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901154" y="2042789"/>
            <a:ext cx="485693" cy="449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1"/>
              </a:lnSpc>
              <a:spcBef>
                <a:spcPct val="0"/>
              </a:spcBef>
            </a:pPr>
            <a:r>
              <a:rPr lang="en-US" b="true" sz="3227" spc="-64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91955" y="3032621"/>
            <a:ext cx="7304089" cy="141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  <a:r>
              <a:rPr lang="en-US" b="true" sz="5150" spc="360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R</a:t>
            </a:r>
            <a:r>
              <a:rPr lang="en-US" b="true" sz="5150" spc="360" strike="noStrike" u="none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ECUPERAR LA ATENCIÓN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85318" y="2111083"/>
            <a:ext cx="7917364" cy="4617034"/>
            <a:chOff x="0" y="0"/>
            <a:chExt cx="10556485" cy="615604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631890" y="66675"/>
              <a:ext cx="9292705" cy="997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559"/>
                </a:lnSpc>
                <a:spcBef>
                  <a:spcPct val="0"/>
                </a:spcBef>
              </a:pPr>
              <a:r>
                <a:rPr lang="en-US" b="true" sz="5245" spc="36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CONCLUSIÓN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339962"/>
              <a:ext cx="10556485" cy="4816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70"/>
                </a:lnSpc>
              </a:pPr>
              <a:r>
                <a:rPr lang="en-US" sz="22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La atención es el recurso más valioso de nuestra generación.</a:t>
              </a:r>
            </a:p>
            <a:p>
              <a:pPr algn="ctr">
                <a:lnSpc>
                  <a:spcPts val="2870"/>
                </a:lnSpc>
              </a:pPr>
              <a:r>
                <a:rPr lang="en-US" sz="22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Si la perdemos, perdemos también la capacidad de pensar, crear y transformar el mundo.</a:t>
              </a:r>
            </a:p>
            <a:p>
              <a:pPr algn="ctr">
                <a:lnSpc>
                  <a:spcPts val="2870"/>
                </a:lnSpc>
              </a:pPr>
              <a:r>
                <a:rPr lang="en-US" sz="22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Como estudiantes de la Universidad Nacional, tenemos el deber de usar la tecnología para despertar conciencia, no para adormecerla.</a:t>
              </a:r>
            </a:p>
            <a:p>
              <a:pPr algn="ctr" marL="0" indent="0" lvl="0">
                <a:lnSpc>
                  <a:spcPts val="2870"/>
                </a:lnSpc>
                <a:spcBef>
                  <a:spcPct val="0"/>
                </a:spcBef>
              </a:pPr>
              <a:r>
                <a:rPr lang="en-US" sz="2296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El reto no es solo programar mejor, sino pensar mejor en lo que programamos.</a:t>
              </a:r>
            </a:p>
            <a:p>
              <a:pPr algn="ctr" marL="0" indent="0" lvl="0">
                <a:lnSpc>
                  <a:spcPts val="287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34039" y="7633039"/>
            <a:ext cx="2653961" cy="2653961"/>
          </a:xfrm>
          <a:custGeom>
            <a:avLst/>
            <a:gdLst/>
            <a:ahLst/>
            <a:cxnLst/>
            <a:rect r="r" b="b" t="t" l="l"/>
            <a:pathLst>
              <a:path h="2653961" w="2653961">
                <a:moveTo>
                  <a:pt x="0" y="0"/>
                </a:moveTo>
                <a:lnTo>
                  <a:pt x="2653961" y="0"/>
                </a:lnTo>
                <a:lnTo>
                  <a:pt x="2653961" y="2653961"/>
                </a:lnTo>
                <a:lnTo>
                  <a:pt x="0" y="2653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28700" y="-48357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73619" y="8647107"/>
            <a:ext cx="774801" cy="70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b="true" sz="5149" spc="-10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030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11411" y="386738"/>
            <a:ext cx="14262208" cy="9437637"/>
            <a:chOff x="0" y="0"/>
            <a:chExt cx="19016278" cy="1258351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1138276" y="66675"/>
              <a:ext cx="16739725" cy="19372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59"/>
                </a:lnSpc>
              </a:pPr>
              <a:r>
                <a:rPr lang="en-US" b="true" sz="5245" spc="367">
                  <a:solidFill>
                    <a:srgbClr val="FFFFFF"/>
                  </a:solidFill>
                  <a:latin typeface="Now Bold"/>
                  <a:ea typeface="Now Bold"/>
                  <a:cs typeface="Now Bold"/>
                  <a:sym typeface="Now Bold"/>
                </a:rPr>
                <a:t>REFERENCIAS</a:t>
              </a:r>
            </a:p>
            <a:p>
              <a:pPr algn="ctr" marL="0" indent="0" lvl="0">
                <a:lnSpc>
                  <a:spcPts val="5559"/>
                </a:lnSpc>
                <a:spcBef>
                  <a:spcPct val="0"/>
                </a:spcBef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79762"/>
              <a:ext cx="19016278" cy="1030375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30978" indent="-215489" lvl="1">
                <a:lnSpc>
                  <a:spcPts val="2495"/>
                </a:lnSpc>
                <a:buFont typeface="Arial"/>
                <a:buChar char="•"/>
              </a:pP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Chonchaiya, W., et al. (2024). Short-form video media use is associated with greater inattentive symptoms in Thai school-age children. Frontiers in Psychiatry. Recuperado de </a:t>
              </a: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  <a:hlinkClick r:id="rId2" tooltip="https://pmc.ncbi.nlm.nih.gov/articles/PMC12230358/?utm_source=chatgpt.com"/>
                </a:rPr>
                <a:t>https://pmc.ncbi.nlm.nih.gov/articles/PMC12230358/</a:t>
              </a:r>
            </a:p>
            <a:p>
              <a:pPr algn="l">
                <a:lnSpc>
                  <a:spcPts val="2495"/>
                </a:lnSpc>
              </a:pPr>
            </a:p>
            <a:p>
              <a:pPr algn="l" marL="430978" indent="-215489" lvl="1">
                <a:lnSpc>
                  <a:spcPts val="2495"/>
                </a:lnSpc>
                <a:buFont typeface="Arial"/>
                <a:buChar char="•"/>
              </a:pP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  <a:hlinkClick r:id="rId3" tooltip="https://pmc.ncbi.nlm.nih.gov/articles/PMC8393543"/>
                </a:rPr>
                <a:t>Brown, K., et al. (2022). Human attention span in digital environments: Evidence from the literature review. Frontiers in Psychology, 13, 8393543. Recuperado de https://pmc.ncbi.nlm.nih.gov/articles/PMC8393543</a:t>
              </a:r>
            </a:p>
            <a:p>
              <a:pPr algn="l">
                <a:lnSpc>
                  <a:spcPts val="2495"/>
                </a:lnSpc>
              </a:pPr>
            </a:p>
            <a:p>
              <a:pPr algn="l" marL="430978" indent="-215489" lvl="1">
                <a:lnSpc>
                  <a:spcPts val="2495"/>
                </a:lnSpc>
                <a:buFont typeface="Arial"/>
                <a:buChar char="•"/>
              </a:pP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Costa, K. M., &amp; Schoenbaum, G. (2022). Dopamine: Reflections on neuroscience, behaviour and society. Current Biology, 32(15), R651–R655. Recuperado de https://www.cell.com/current-biology/fulltext/S0960-9822(22)01022-3</a:t>
              </a:r>
            </a:p>
            <a:p>
              <a:pPr algn="l">
                <a:lnSpc>
                  <a:spcPts val="2495"/>
                </a:lnSpc>
              </a:pPr>
            </a:p>
            <a:p>
              <a:pPr algn="l" marL="430978" indent="-215489" lvl="1">
                <a:lnSpc>
                  <a:spcPts val="2495"/>
                </a:lnSpc>
                <a:buFont typeface="Arial"/>
                <a:buChar char="•"/>
              </a:pP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Exchange4Media. (2018). Human attention span dropped from 12 secs in 2000 to 8 secs in 2018: Taboola-Nielsen study. Recuperado de </a:t>
              </a: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  <a:hlinkClick r:id="rId4" tooltip="https://www.exchange4media.com/digital-news/human-attention-span-dropped-from-12-secs-in-2000-to-8-secs-in-2018-taboola-nielsen-study-100272.html?utm_source=chatgpt.com"/>
                </a:rPr>
                <a:t>https://www.exchange4media.com/digital-news/human-attention-span-dropped-from-12-secs-in-2000-to-8-secs-in-2018-taboola-nielsen-study-100272.html</a:t>
              </a:r>
            </a:p>
            <a:p>
              <a:pPr algn="l">
                <a:lnSpc>
                  <a:spcPts val="2495"/>
                </a:lnSpc>
              </a:pPr>
            </a:p>
            <a:p>
              <a:pPr algn="l" marL="430978" indent="-215489" lvl="1">
                <a:lnSpc>
                  <a:spcPts val="2495"/>
                </a:lnSpc>
                <a:buFont typeface="Arial"/>
                <a:buChar char="•"/>
              </a:pP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Zhang, Y., &amp; Lee, J. (2023). Measuring attention and engagement in social media: An analysis of dwell time and consumption patterns. arXiv preprint. https://arxiv.org/abs/2304.11877</a:t>
              </a:r>
            </a:p>
            <a:p>
              <a:pPr algn="l">
                <a:lnSpc>
                  <a:spcPts val="2495"/>
                </a:lnSpc>
              </a:pPr>
            </a:p>
            <a:p>
              <a:pPr algn="l" marL="430978" indent="-215489" lvl="1">
                <a:lnSpc>
                  <a:spcPts val="2495"/>
                </a:lnSpc>
                <a:buFont typeface="Arial"/>
                <a:buChar char="•"/>
              </a:pP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iStock by Getty Images. “Celular” — imágenes de stock. Recuperado de </a:t>
              </a:r>
              <a:r>
                <a:rPr lang="en-US" sz="1996" u="sng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  <a:hlinkClick r:id="rId5" tooltip="https://www.istockphoto.com/es/search/2/image?phrase=celular"/>
                </a:rPr>
                <a:t>https://www.istockphoto.com/es</a:t>
              </a:r>
            </a:p>
            <a:p>
              <a:pPr algn="l">
                <a:lnSpc>
                  <a:spcPts val="2495"/>
                </a:lnSpc>
              </a:pPr>
            </a:p>
            <a:p>
              <a:pPr algn="l">
                <a:lnSpc>
                  <a:spcPts val="2495"/>
                </a:lnSpc>
              </a:pPr>
            </a:p>
            <a:p>
              <a:pPr algn="ctr">
                <a:lnSpc>
                  <a:spcPts val="2870"/>
                </a:lnSpc>
              </a:pPr>
            </a:p>
            <a:p>
              <a:pPr algn="ctr">
                <a:lnSpc>
                  <a:spcPts val="2870"/>
                </a:lnSpc>
              </a:pPr>
            </a:p>
            <a:p>
              <a:pPr algn="ctr">
                <a:lnSpc>
                  <a:spcPts val="2870"/>
                </a:lnSpc>
              </a:pPr>
            </a:p>
            <a:p>
              <a:pPr algn="ctr">
                <a:lnSpc>
                  <a:spcPts val="287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34039" y="7633039"/>
            <a:ext cx="2653961" cy="2653961"/>
          </a:xfrm>
          <a:custGeom>
            <a:avLst/>
            <a:gdLst/>
            <a:ahLst/>
            <a:cxnLst/>
            <a:rect r="r" b="b" t="t" l="l"/>
            <a:pathLst>
              <a:path h="2653961" w="2653961">
                <a:moveTo>
                  <a:pt x="0" y="0"/>
                </a:moveTo>
                <a:lnTo>
                  <a:pt x="2653961" y="0"/>
                </a:lnTo>
                <a:lnTo>
                  <a:pt x="2653961" y="2653961"/>
                </a:lnTo>
                <a:lnTo>
                  <a:pt x="0" y="26539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028700" y="-48357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573619" y="8647107"/>
            <a:ext cx="774801" cy="70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8"/>
              </a:lnSpc>
              <a:spcBef>
                <a:spcPct val="0"/>
              </a:spcBef>
            </a:pPr>
            <a:r>
              <a:rPr lang="en-US" b="true" sz="5149" spc="-10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DAG3U9_ifOU</dc:identifier>
  <dcterms:modified xsi:type="dcterms:W3CDTF">2011-08-01T06:04:30Z</dcterms:modified>
  <cp:revision>1</cp:revision>
  <dc:title>Presentación Proyecto Final Geométrico Negro y Blanco</dc:title>
</cp:coreProperties>
</file>